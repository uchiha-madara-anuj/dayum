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g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16-Point Star 4"/>
          <p:cNvSpPr/>
          <p:nvPr/>
        </p:nvSpPr>
        <p:spPr>
          <a:xfrm>
            <a:off x="5410504" y="1463040"/>
            <a:ext cx="1371600" cy="1371600"/>
          </a:xfrm>
          <a:prstGeom prst="star16">
            <a:avLst/>
          </a:prstGeom>
          <a:solidFill>
            <a:srgbClr val="E01E37"/>
          </a:solidFill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04280" y="1956816"/>
            <a:ext cx="384048" cy="384048"/>
          </a:xfrm>
          <a:prstGeom prst="ellipse">
            <a:avLst/>
          </a:prstGeom>
          <a:noFill/>
          <a:ln w="19050">
            <a:solidFill>
              <a:srgbClr val="E8E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34582" y="2087118"/>
            <a:ext cx="123444" cy="123444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10360152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 i="0">
                <a:solidFill>
                  <a:srgbClr val="E8E4D8"/>
                </a:solidFill>
                <a:latin typeface="Georgia"/>
              </a:rPr>
              <a:t>OBSIDIAN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FF2A44"/>
                </a:solidFill>
                <a:latin typeface="Consolas"/>
              </a:rPr>
              <a:t>IMPERIAL SECURITY 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JEDI APPREHENSION DIVISION · TS '26 CREATIVE PRELIMS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0" y="5029200"/>
            <a:ext cx="3959352" cy="0"/>
          </a:xfrm>
          <a:prstGeom prst="line">
            <a:avLst/>
          </a:prstGeom>
          <a:ln w="12700">
            <a:solidFill>
              <a:srgbClr val="5A10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5257800"/>
            <a:ext cx="103601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A5A66"/>
                </a:solidFill>
                <a:latin typeface="Consolas"/>
              </a:rPr>
              <a:t>ANUJ PHULERA · AARAV CHOUDHARY · JEEHAAN KWATRA</a:t>
            </a:r>
          </a:p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A5A66"/>
                </a:solidFill>
                <a:latin typeface="Consolas"/>
              </a:rPr>
              <a:t>SCHOOL 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THE BRIEF · PATH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THE GALAXY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SCATTERED.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2057400"/>
            <a:ext cx="5852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8A8A94"/>
                </a:solidFill>
                <a:latin typeface="Consolas"/>
              </a:rPr>
              <a:t>Order 66 fell. Survivors hide across a thousand worlds — rebuilding, recruiting, learning to vanish.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5852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E8E4D8"/>
                </a:solidFill>
                <a:latin typeface="Consolas"/>
              </a:rPr>
              <a:t>The Empire has legions but no eyes: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E8E4D8"/>
                </a:solidFill>
                <a:latin typeface="Consolas"/>
              </a:rPr>
              <a:t>fragmented intel · isolated Inquisitors · unprotected recruitment lanes · no decision layer.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0" y="2103120"/>
            <a:ext cx="146304" cy="146304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0" y="2651760"/>
            <a:ext cx="146304" cy="146304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0" y="2011680"/>
            <a:ext cx="146304" cy="146304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0" y="3566160"/>
            <a:ext cx="146304" cy="146304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2560" y="3017520"/>
            <a:ext cx="146304" cy="146304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38160" y="4023360"/>
            <a:ext cx="146304" cy="146304"/>
          </a:xfrm>
          <a:prstGeom prst="ellipse">
            <a:avLst/>
          </a:prstGeom>
          <a:solidFill>
            <a:srgbClr val="8A8A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0" y="2468880"/>
            <a:ext cx="146304" cy="146304"/>
          </a:xfrm>
          <a:prstGeom prst="ellipse">
            <a:avLst/>
          </a:prstGeom>
          <a:solidFill>
            <a:srgbClr val="8A8A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0" y="3840480"/>
            <a:ext cx="146304" cy="146304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75120" y="2926080"/>
            <a:ext cx="146304" cy="146304"/>
          </a:xfrm>
          <a:prstGeom prst="ellipse">
            <a:avLst/>
          </a:prstGeom>
          <a:solidFill>
            <a:srgbClr val="8A8A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4480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A5A66"/>
                </a:solidFill>
                <a:latin typeface="Consolas"/>
              </a:rPr>
              <a:t>NINE CLASSIFIED TARGETS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8006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A5A66"/>
                </a:solidFill>
                <a:latin typeface="Consolas"/>
              </a:rPr>
              <a:t>IN THE FIELD, RIGHT NOW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ONE NERVOUS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SYSTEM.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8A8A94"/>
                </a:solidFill>
                <a:latin typeface="Consolas"/>
              </a:rPr>
              <a:t>The brief grants total creative freedom. We built the infrastructure the Empire never had: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91840"/>
            <a:ext cx="10515600" cy="603504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8328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2A44"/>
                </a:solidFill>
                <a:latin typeface="Georgia"/>
              </a:rPr>
              <a:t>TRACK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419856"/>
            <a:ext cx="8046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8A94"/>
                </a:solidFill>
                <a:latin typeface="Consolas"/>
              </a:rPr>
              <a:t>every sector, probe and sighting in one grid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41648"/>
            <a:ext cx="10515600" cy="603504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33087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2A44"/>
                </a:solidFill>
                <a:latin typeface="Georgia"/>
              </a:rPr>
              <a:t>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169663"/>
            <a:ext cx="8046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8A94"/>
                </a:solidFill>
                <a:latin typeface="Consolas"/>
              </a:rPr>
              <a:t>intel that becomes dispatch in one board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791456"/>
            <a:ext cx="10515600" cy="603504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2A44"/>
                </a:solidFill>
                <a:latin typeface="Georgia"/>
              </a:rPr>
              <a:t>COMMAND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919472"/>
            <a:ext cx="8046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8A94"/>
                </a:solidFill>
                <a:latin typeface="Consolas"/>
              </a:rPr>
              <a:t>every Inquisitor on one encrypted channel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541264"/>
            <a:ext cx="10515600" cy="603504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632704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2A44"/>
                </a:solidFill>
                <a:latin typeface="Georgia"/>
              </a:rPr>
              <a:t>DISRUPT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669280"/>
            <a:ext cx="8046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8A94"/>
                </a:solidFill>
                <a:latin typeface="Consolas"/>
              </a:rPr>
              <a:t>counter-recruitment at broadcast scale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OBSIDIAN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THE HUNT, COORDINATED.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2011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8A8A94"/>
                </a:solidFill>
                <a:latin typeface="Consolas"/>
              </a:rPr>
              <a:t>A classified Imperial command portal. One login. Twelve modules. One hunting organism.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80360"/>
            <a:ext cx="5212080" cy="118872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880360"/>
            <a:ext cx="82296" cy="118872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02666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4D8"/>
                </a:solidFill>
                <a:latin typeface="Georgia"/>
              </a:rPr>
              <a:t>GATE &amp; BOOT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44728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8A94"/>
                </a:solidFill>
                <a:latin typeface="Consolas"/>
              </a:rPr>
              <a:t>passphrase FOR THE EMPIRE · clearance ALPHA-7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880360"/>
            <a:ext cx="5212080" cy="118872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880360"/>
            <a:ext cx="82296" cy="118872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02666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4D8"/>
                </a:solidFill>
                <a:latin typeface="Georgia"/>
              </a:rPr>
              <a:t>LIVE 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44728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8A94"/>
                </a:solidFill>
                <a:latin typeface="Consolas"/>
              </a:rPr>
              <a:t>radar, threat indices, sighting logs, count-ups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297680"/>
            <a:ext cx="5212080" cy="118872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297680"/>
            <a:ext cx="82296" cy="118872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44398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4D8"/>
                </a:solidFill>
                <a:latin typeface="Georgia"/>
              </a:rPr>
              <a:t>IN-UNIVERSE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86460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8A94"/>
                </a:solidFill>
                <a:latin typeface="Consolas"/>
              </a:rPr>
              <a:t>nine original Jedi · six Inquisitors · seven doctrines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297680"/>
            <a:ext cx="5212080" cy="118872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4297680"/>
            <a:ext cx="82296" cy="118872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44398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4D8"/>
                </a:solidFill>
                <a:latin typeface="Georgia"/>
              </a:rPr>
              <a:t>OFFLINE-FIRST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86460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8A94"/>
                </a:solidFill>
                <a:latin typeface="Consolas"/>
              </a:rPr>
              <a:t>Next.js build + zero-dependency vanilla 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TWELVE MODULES.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ONE HUNT.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22960" y="2057400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6712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2A44"/>
                </a:solidFill>
                <a:latin typeface="Georgia"/>
              </a:rPr>
              <a:t>001 · COMMAND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hero status 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8" y="2057400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16712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E4D8"/>
                </a:solidFill>
                <a:latin typeface="Georgia"/>
              </a:rPr>
              <a:t>002 · GALAXY TRACKER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5603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radar + probe drops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1856" y="2057400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216712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E4D8"/>
                </a:solidFill>
                <a:latin typeface="Georgia"/>
              </a:rPr>
              <a:t>003 · WANTED DOSSIERS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25603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9 psychoprofiled targets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172968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28269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2A44"/>
                </a:solidFill>
                <a:latin typeface="Georgia"/>
              </a:rPr>
              <a:t>004 ·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675887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probe/ISB feed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7408" y="3172968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0288" y="328269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E4D8"/>
                </a:solidFill>
                <a:latin typeface="Georgia"/>
              </a:rPr>
              <a:t>005 · 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3675887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kanban 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6" y="3172968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4736" y="328269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E4D8"/>
                </a:solidFill>
                <a:latin typeface="Georgia"/>
              </a:rPr>
              <a:t>006 · INTERDICTION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3675887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propaganda studio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288536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39826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2A44"/>
                </a:solidFill>
                <a:latin typeface="Georgia"/>
              </a:rPr>
              <a:t>007 · INQUISITOR UPLINK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791455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encrypted comms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7408" y="4288536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439826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E4D8"/>
                </a:solidFill>
                <a:latin typeface="Georgia"/>
              </a:rPr>
              <a:t>008 · ARCHIVE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8" y="4791455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7 lore documents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91856" y="4288536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4736" y="439826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E4D8"/>
                </a:solidFill>
                <a:latin typeface="Georgia"/>
              </a:rPr>
              <a:t>009 · TERMINAL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4736" y="4791455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working mainframe shell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404104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51383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2A44"/>
                </a:solidFill>
                <a:latin typeface="Georgia"/>
              </a:rPr>
              <a:t>010 · MANIFESTO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907024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the Emperor's case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5404104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0288" y="551383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E4D8"/>
                </a:solidFill>
                <a:latin typeface="Georgia"/>
              </a:rPr>
              <a:t>011 · HUNT METRICS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0288" y="5907024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purge completion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91856" y="5404104"/>
            <a:ext cx="3383280" cy="932688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4736" y="551383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E4D8"/>
                </a:solidFill>
                <a:latin typeface="Georgia"/>
              </a:rPr>
              <a:t>012 · STANDARDS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74736" y="5907024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8A94"/>
                </a:solidFill>
                <a:latin typeface="Consolas"/>
              </a:rPr>
              <a:t>in-app design system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MODULE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GALAXY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TRACKER.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22960" y="2011680"/>
            <a:ext cx="6766560" cy="4480560"/>
          </a:xfrm>
          <a:prstGeom prst="rect">
            <a:avLst/>
          </a:prstGeom>
          <a:solidFill>
            <a:srgbClr val="07070D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011680"/>
            <a:ext cx="1217980" cy="4480560"/>
          </a:xfrm>
          <a:prstGeom prst="rect">
            <a:avLst/>
          </a:prstGeom>
          <a:solidFill>
            <a:srgbClr val="0A0A12"/>
          </a:solidFill>
          <a:ln w="9525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11680"/>
            <a:ext cx="6766560" cy="313639"/>
          </a:xfrm>
          <a:prstGeom prst="rect">
            <a:avLst/>
          </a:prstGeom>
          <a:solidFill>
            <a:srgbClr val="0A0A12"/>
          </a:solidFill>
          <a:ln w="9525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8291" y="2065446"/>
            <a:ext cx="2029968" cy="2240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E8E4D8"/>
                </a:solidFill>
                <a:latin typeface="Georgia"/>
              </a:rPr>
              <a:t>OBSIDIAN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158" y="2459736"/>
            <a:ext cx="1048816" cy="246430"/>
          </a:xfrm>
          <a:prstGeom prst="rect">
            <a:avLst/>
          </a:prstGeom>
          <a:solidFill>
            <a:srgbClr val="1A0A10"/>
          </a:solidFill>
          <a:ln w="9525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4158" y="2795778"/>
            <a:ext cx="1048816" cy="246430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4158" y="3131820"/>
            <a:ext cx="1048816" cy="246430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4158" y="3467862"/>
            <a:ext cx="1048816" cy="246430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4158" y="3803904"/>
            <a:ext cx="1048816" cy="246430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3937" y="2235708"/>
            <a:ext cx="4736592" cy="403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E4D8"/>
                </a:solidFill>
                <a:latin typeface="Georgia"/>
              </a:rPr>
              <a:t>PAGE TITLE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40" y="2514600"/>
            <a:ext cx="4023360" cy="3566160"/>
          </a:xfrm>
          <a:prstGeom prst="rect">
            <a:avLst/>
          </a:prstGeom>
          <a:solidFill>
            <a:srgbClr val="06060C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40280" y="3721608"/>
            <a:ext cx="1046073" cy="1046073"/>
          </a:xfrm>
          <a:prstGeom prst="ellipse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4952" y="3319272"/>
            <a:ext cx="885139" cy="885139"/>
          </a:xfrm>
          <a:prstGeom prst="ellipse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41448" y="4928616"/>
            <a:ext cx="804672" cy="804672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648456" y="4727448"/>
            <a:ext cx="724204" cy="724204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251960" y="3721608"/>
            <a:ext cx="643737" cy="643737"/>
          </a:xfrm>
          <a:prstGeom prst="ellipse">
            <a:avLst/>
          </a:prstGeom>
          <a:solidFill>
            <a:srgbClr val="3A3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3246120" y="2728569"/>
            <a:ext cx="0" cy="1569111"/>
          </a:xfrm>
          <a:prstGeom prst="line">
            <a:avLst/>
          </a:prstGeom>
          <a:ln w="15240">
            <a:solidFill>
              <a:srgbClr val="FF2A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480767" y="3757269"/>
            <a:ext cx="82296" cy="82296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480767" y="3757269"/>
            <a:ext cx="82296" cy="82296"/>
          </a:xfrm>
          <a:prstGeom prst="ellipse">
            <a:avLst/>
          </a:prstGeom>
          <a:noFill/>
          <a:ln w="9525">
            <a:solidFill>
              <a:srgbClr val="F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204972" y="3329330"/>
            <a:ext cx="82296" cy="82296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204972" y="3329330"/>
            <a:ext cx="82296" cy="82296"/>
          </a:xfrm>
          <a:prstGeom prst="ellipse">
            <a:avLst/>
          </a:prstGeom>
          <a:noFill/>
          <a:ln w="9525">
            <a:solidFill>
              <a:srgbClr val="F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641701" y="4755794"/>
            <a:ext cx="82296" cy="82296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641701" y="4755794"/>
            <a:ext cx="82296" cy="82296"/>
          </a:xfrm>
          <a:prstGeom prst="ellipse">
            <a:avLst/>
          </a:prstGeom>
          <a:noFill/>
          <a:ln w="9525">
            <a:solidFill>
              <a:srgbClr val="F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848709" y="4613148"/>
            <a:ext cx="82296" cy="82296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48709" y="4613148"/>
            <a:ext cx="82296" cy="82296"/>
          </a:xfrm>
          <a:prstGeom prst="ellipse">
            <a:avLst/>
          </a:prstGeom>
          <a:noFill/>
          <a:ln w="9525">
            <a:solidFill>
              <a:srgbClr val="F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331512" y="3685946"/>
            <a:ext cx="82296" cy="82296"/>
          </a:xfrm>
          <a:prstGeom prst="ellipse">
            <a:avLst/>
          </a:prstGeom>
          <a:solidFill>
            <a:srgbClr val="8A8A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31512" y="3685946"/>
            <a:ext cx="82296" cy="82296"/>
          </a:xfrm>
          <a:prstGeom prst="ellipse">
            <a:avLst/>
          </a:prstGeom>
          <a:noFill/>
          <a:ln w="9525">
            <a:solidFill>
              <a:srgbClr val="8A8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31259" y="2728569"/>
            <a:ext cx="1046073" cy="1069848"/>
          </a:xfrm>
          <a:prstGeom prst="rect">
            <a:avLst/>
          </a:prstGeom>
          <a:solidFill>
            <a:srgbClr val="0A0A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11726" y="2799892"/>
            <a:ext cx="885139" cy="1783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FF2A44"/>
                </a:solidFill>
                <a:latin typeface="Georgia"/>
              </a:rPr>
              <a:t>SIGHTING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11726" y="3085185"/>
            <a:ext cx="804672" cy="99852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11726" y="3281324"/>
            <a:ext cx="804672" cy="99852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11726" y="3477463"/>
            <a:ext cx="804672" cy="99852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55140" y="5652820"/>
            <a:ext cx="2011680" cy="2139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A5A66"/>
                </a:solidFill>
                <a:latin typeface="Consolas"/>
              </a:rPr>
              <a:t>RADAR SWEEP · LIVE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2148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4D8"/>
                </a:solidFill>
                <a:latin typeface="Georgia"/>
              </a:rPr>
              <a:t>LIVE SURVEILLANCE GRID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269748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Radar sweep over ten sectors.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Threat heat zones.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Click a blip → dossier.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Log sightings · simulate probe drops.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Confirmed / suspected / disputed.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MODULES 02-05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DOSSIERS &amp;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OPERATIONS.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22960" y="2057400"/>
            <a:ext cx="1661769" cy="201168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2666" y="2198217"/>
            <a:ext cx="1462357" cy="683971"/>
          </a:xfrm>
          <a:prstGeom prst="rect">
            <a:avLst/>
          </a:prstGeom>
          <a:solidFill>
            <a:srgbClr val="10101A"/>
          </a:solidFill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2666" y="2982772"/>
            <a:ext cx="1462357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E8E4D8"/>
                </a:solidFill>
                <a:latin typeface="Georgia"/>
              </a:rPr>
              <a:t>TARGET NAME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66" y="3224174"/>
            <a:ext cx="1329415" cy="100584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2666" y="3405225"/>
            <a:ext cx="1329415" cy="100584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22666" y="3666744"/>
            <a:ext cx="664707" cy="140817"/>
          </a:xfrm>
          <a:prstGeom prst="rect">
            <a:avLst/>
          </a:prstGeom>
          <a:solidFill>
            <a:srgbClr val="1C0C12"/>
          </a:solidFill>
          <a:ln w="635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43835" y="2057400"/>
            <a:ext cx="1661769" cy="201168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541" y="2198217"/>
            <a:ext cx="1462357" cy="683971"/>
          </a:xfrm>
          <a:prstGeom prst="rect">
            <a:avLst/>
          </a:prstGeom>
          <a:solidFill>
            <a:srgbClr val="10101A"/>
          </a:solidFill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541" y="2982772"/>
            <a:ext cx="1462357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E8E4D8"/>
                </a:solidFill>
                <a:latin typeface="Georgia"/>
              </a:rPr>
              <a:t>TARGET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541" y="3224174"/>
            <a:ext cx="1329415" cy="100584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541" y="3405225"/>
            <a:ext cx="1329415" cy="100584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541" y="3666744"/>
            <a:ext cx="664707" cy="140817"/>
          </a:xfrm>
          <a:prstGeom prst="rect">
            <a:avLst/>
          </a:prstGeom>
          <a:solidFill>
            <a:srgbClr val="1C0C12"/>
          </a:solidFill>
          <a:ln w="635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64710" y="2057400"/>
            <a:ext cx="1661769" cy="201168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64416" y="2198217"/>
            <a:ext cx="1462357" cy="683971"/>
          </a:xfrm>
          <a:prstGeom prst="rect">
            <a:avLst/>
          </a:prstGeom>
          <a:solidFill>
            <a:srgbClr val="10101A"/>
          </a:solidFill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4416" y="2982772"/>
            <a:ext cx="1462357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E8E4D8"/>
                </a:solidFill>
                <a:latin typeface="Georgia"/>
              </a:rPr>
              <a:t>TARGET 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64416" y="3224174"/>
            <a:ext cx="1329415" cy="100584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64416" y="3405225"/>
            <a:ext cx="1329415" cy="100584"/>
          </a:xfrm>
          <a:prstGeom prst="rect">
            <a:avLst/>
          </a:prstGeom>
          <a:noFill/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64416" y="3666744"/>
            <a:ext cx="664707" cy="140817"/>
          </a:xfrm>
          <a:prstGeom prst="rect">
            <a:avLst/>
          </a:prstGeom>
          <a:solidFill>
            <a:srgbClr val="1C0C12"/>
          </a:solidFill>
          <a:ln w="635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20624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66"/>
                </a:solidFill>
                <a:latin typeface="Consolas"/>
              </a:rPr>
              <a:t>NINE ORIGINAL JEDI · PSYCHOPROFILES · WARRANTS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663440"/>
            <a:ext cx="1226439" cy="1737360"/>
          </a:xfrm>
          <a:prstGeom prst="rect">
            <a:avLst/>
          </a:prstGeom>
          <a:solidFill>
            <a:srgbClr val="08080E"/>
          </a:solidFill>
          <a:ln w="9525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075" y="4732934"/>
            <a:ext cx="981151" cy="1042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8A94"/>
                </a:solidFill>
                <a:latin typeface="Consolas"/>
              </a:rPr>
              <a:t>PLANNING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1075" y="4906670"/>
            <a:ext cx="1030208" cy="312724"/>
          </a:xfrm>
          <a:prstGeom prst="rect">
            <a:avLst/>
          </a:prstGeom>
          <a:solidFill>
            <a:srgbClr val="0E0E16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1075" y="4906670"/>
            <a:ext cx="41148" cy="312724"/>
          </a:xfrm>
          <a:prstGeom prst="rect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1075" y="5323636"/>
            <a:ext cx="1030208" cy="312724"/>
          </a:xfrm>
          <a:prstGeom prst="rect">
            <a:avLst/>
          </a:prstGeom>
          <a:solidFill>
            <a:srgbClr val="0E0E16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1075" y="5323636"/>
            <a:ext cx="41148" cy="312724"/>
          </a:xfrm>
          <a:prstGeom prst="rect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81987" y="4663440"/>
            <a:ext cx="1226439" cy="1737360"/>
          </a:xfrm>
          <a:prstGeom prst="rect">
            <a:avLst/>
          </a:prstGeom>
          <a:solidFill>
            <a:srgbClr val="08080E"/>
          </a:solidFill>
          <a:ln w="9525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80102" y="4732934"/>
            <a:ext cx="981151" cy="1042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8A94"/>
                </a:solidFill>
                <a:latin typeface="Consolas"/>
              </a:rPr>
              <a:t>ACTIVE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0102" y="4906670"/>
            <a:ext cx="1030208" cy="312724"/>
          </a:xfrm>
          <a:prstGeom prst="rect">
            <a:avLst/>
          </a:prstGeom>
          <a:solidFill>
            <a:srgbClr val="0E0E16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80102" y="4906670"/>
            <a:ext cx="41148" cy="31272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80102" y="5323636"/>
            <a:ext cx="1030208" cy="312724"/>
          </a:xfrm>
          <a:prstGeom prst="rect">
            <a:avLst/>
          </a:prstGeom>
          <a:solidFill>
            <a:srgbClr val="0E0E16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0102" y="5323636"/>
            <a:ext cx="41148" cy="31272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41014" y="4663440"/>
            <a:ext cx="1226439" cy="1737360"/>
          </a:xfrm>
          <a:prstGeom prst="rect">
            <a:avLst/>
          </a:prstGeom>
          <a:solidFill>
            <a:srgbClr val="08080E"/>
          </a:solidFill>
          <a:ln w="9525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39129" y="4732934"/>
            <a:ext cx="981151" cy="1042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8A94"/>
                </a:solidFill>
                <a:latin typeface="Consolas"/>
              </a:rPr>
              <a:t>CONTAINED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39129" y="4906670"/>
            <a:ext cx="1030208" cy="312724"/>
          </a:xfrm>
          <a:prstGeom prst="rect">
            <a:avLst/>
          </a:prstGeom>
          <a:solidFill>
            <a:srgbClr val="0E0E16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39129" y="4906670"/>
            <a:ext cx="41148" cy="31272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39129" y="5323636"/>
            <a:ext cx="1030208" cy="312724"/>
          </a:xfrm>
          <a:prstGeom prst="rect">
            <a:avLst/>
          </a:prstGeom>
          <a:solidFill>
            <a:srgbClr val="0E0E16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39129" y="5323636"/>
            <a:ext cx="41148" cy="31272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00041" y="4663440"/>
            <a:ext cx="1226439" cy="1737360"/>
          </a:xfrm>
          <a:prstGeom prst="rect">
            <a:avLst/>
          </a:prstGeom>
          <a:solidFill>
            <a:srgbClr val="08080E"/>
          </a:solidFill>
          <a:ln w="9525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98156" y="4732934"/>
            <a:ext cx="981151" cy="1042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8A94"/>
                </a:solidFill>
                <a:latin typeface="Consolas"/>
              </a:rPr>
              <a:t>FAILED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98156" y="4906670"/>
            <a:ext cx="1030208" cy="312724"/>
          </a:xfrm>
          <a:prstGeom prst="rect">
            <a:avLst/>
          </a:prstGeom>
          <a:solidFill>
            <a:srgbClr val="0E0E16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98156" y="4906670"/>
            <a:ext cx="41148" cy="312724"/>
          </a:xfrm>
          <a:prstGeom prst="rect">
            <a:avLst/>
          </a:prstGeom>
          <a:solidFill>
            <a:srgbClr val="8A8A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214884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4D8"/>
                </a:solidFill>
                <a:latin typeface="Georgia"/>
              </a:rPr>
              <a:t>INTEL → ACTION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69748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Sightings escalate into operations.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Cards move PLANNING → ACTIVE → CONTAINED.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Squads, sectors, priorities — one board.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Every hunt leaves a paper trail.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MODULES 04-06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INTEL &amp;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INTERDICTION.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22960" y="2057400"/>
            <a:ext cx="5303520" cy="196596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4D8"/>
                </a:solidFill>
                <a:latin typeface="Georgia"/>
              </a:rPr>
              <a:t>INTELLIGENCE FEED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606040"/>
            <a:ext cx="4937760" cy="329184"/>
          </a:xfrm>
          <a:prstGeom prst="rect">
            <a:avLst/>
          </a:prstGeom>
          <a:solidFill>
            <a:srgbClr val="0D0D15"/>
          </a:solidFill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67004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FB4D8"/>
                </a:solidFill>
                <a:latin typeface="Consolas"/>
              </a:rPr>
              <a:t>PROBE-9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70048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FF2A44"/>
                </a:solidFill>
                <a:latin typeface="Consolas"/>
              </a:rPr>
              <a:t>CONFIRMED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017520"/>
            <a:ext cx="4937760" cy="329184"/>
          </a:xfrm>
          <a:prstGeom prst="rect">
            <a:avLst/>
          </a:prstGeom>
          <a:solidFill>
            <a:srgbClr val="0D0D15"/>
          </a:solidFill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08152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FB4D8"/>
                </a:solidFill>
                <a:latin typeface="Consolas"/>
              </a:rPr>
              <a:t>ISB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081528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F4A300"/>
                </a:solidFill>
                <a:latin typeface="Consolas"/>
              </a:rPr>
              <a:t>LIKELY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429000"/>
            <a:ext cx="4937760" cy="329184"/>
          </a:xfrm>
          <a:prstGeom prst="rect">
            <a:avLst/>
          </a:prstGeom>
          <a:solidFill>
            <a:srgbClr val="0D0D15"/>
          </a:solidFill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49300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FB4D8"/>
                </a:solidFill>
                <a:latin typeface="Consolas"/>
              </a:rPr>
              <a:t>INTERCEPT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493008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F4A300"/>
                </a:solidFill>
                <a:latin typeface="Consolas"/>
              </a:rPr>
              <a:t>POSSIBLE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5303520" cy="2240280"/>
          </a:xfrm>
          <a:prstGeom prst="rect">
            <a:avLst/>
          </a:prstGeom>
          <a:solidFill>
            <a:srgbClr val="07070D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5100" y="4318253"/>
            <a:ext cx="3182112" cy="134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E8E4D8"/>
                </a:solidFill>
                <a:latin typeface="Georgia"/>
              </a:rPr>
              <a:t>BROADCAST STUDIO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5100" y="4564684"/>
            <a:ext cx="4879238" cy="1120140"/>
          </a:xfrm>
          <a:prstGeom prst="rect">
            <a:avLst/>
          </a:prstGeom>
          <a:solidFill>
            <a:srgbClr val="0B0B12"/>
          </a:solidFill>
          <a:ln w="6350">
            <a:solidFill>
              <a:srgbClr val="1E1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7241" y="4699101"/>
            <a:ext cx="4242816" cy="6720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A8A94"/>
                </a:solidFill>
                <a:latin typeface="Consolas"/>
              </a:rPr>
              <a:t>Citizens of Torvane: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A8A94"/>
                </a:solidFill>
                <a:latin typeface="Consolas"/>
              </a:rPr>
              <a:t>the war is over.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A8A94"/>
                </a:solidFill>
                <a:latin typeface="Consolas"/>
              </a:rPr>
              <a:t>The Emperor brings order.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14016" y="5864047"/>
            <a:ext cx="2121408" cy="268833"/>
          </a:xfrm>
          <a:prstGeom prst="rect">
            <a:avLst/>
          </a:prstGeom>
          <a:solidFill>
            <a:srgbClr val="1C0C12"/>
          </a:solidFill>
          <a:ln w="9525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5908852"/>
            <a:ext cx="2121408" cy="17922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E8E4D8"/>
                </a:solidFill>
                <a:latin typeface="Georgia"/>
              </a:rPr>
              <a:t>TRANSMIT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14884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4D8"/>
                </a:solidFill>
                <a:latin typeface="Georgia"/>
              </a:rPr>
              <a:t>RECRUITMENT DISRUPTION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69748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Compose sector-wide propaganda.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Six templates: amnesty, suspicion, loyalty, order.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Transmit → log → citizen tips rise.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The Jedi cannot recruit what they cannot reach.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MODULES 07-09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COMMS &amp;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TERMINAL.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22960" y="2057400"/>
            <a:ext cx="5303520" cy="2148840"/>
          </a:xfrm>
          <a:prstGeom prst="rect">
            <a:avLst/>
          </a:prstGeom>
          <a:solidFill>
            <a:srgbClr val="07070D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5100" y="2164842"/>
            <a:ext cx="2651760" cy="1289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E8E4D8"/>
                </a:solidFill>
                <a:latin typeface="Georgia"/>
              </a:rPr>
              <a:t>INQUISITOR UPLINK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1171" y="2401214"/>
            <a:ext cx="2651760" cy="214884"/>
          </a:xfrm>
          <a:prstGeom prst="rect">
            <a:avLst/>
          </a:prstGeom>
          <a:solidFill>
            <a:srgbClr val="0E0E16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56508" y="2745028"/>
            <a:ext cx="2651760" cy="214884"/>
          </a:xfrm>
          <a:prstGeom prst="rect">
            <a:avLst/>
          </a:prstGeom>
          <a:solidFill>
            <a:srgbClr val="0E0E16"/>
          </a:solidFill>
          <a:ln w="6350">
            <a:solidFill>
              <a:srgbClr val="5A1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1171" y="3088843"/>
            <a:ext cx="2916936" cy="214884"/>
          </a:xfrm>
          <a:prstGeom prst="rect">
            <a:avLst/>
          </a:prstGeom>
          <a:solidFill>
            <a:srgbClr val="0E0E16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5100" y="3604564"/>
            <a:ext cx="4879238" cy="257860"/>
          </a:xfrm>
          <a:prstGeom prst="rect">
            <a:avLst/>
          </a:prstGeom>
          <a:solidFill>
            <a:srgbClr val="0A0A12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1171" y="3669030"/>
            <a:ext cx="2651760" cy="1289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A5A66"/>
                </a:solidFill>
                <a:latin typeface="Consolas"/>
              </a:rPr>
              <a:t>TYPE TRANSMISSION…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66"/>
                </a:solidFill>
                <a:latin typeface="Consolas"/>
              </a:rPr>
              <a:t>SIX INQUISITORS · IN-CHARACTER REPLIES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754880"/>
            <a:ext cx="5303520" cy="1691640"/>
          </a:xfrm>
          <a:prstGeom prst="rect">
            <a:avLst/>
          </a:prstGeom>
          <a:solidFill>
            <a:srgbClr val="04040A"/>
          </a:solidFill>
          <a:ln w="1270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100" y="4839462"/>
            <a:ext cx="3182112" cy="101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E8E4D8"/>
                </a:solidFill>
                <a:latin typeface="Georgia"/>
              </a:rPr>
              <a:t>OBSIDIAN MAINFRAME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100" y="5025542"/>
            <a:ext cx="4773168" cy="135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DC84"/>
                </a:solidFill>
                <a:latin typeface="Consolas"/>
              </a:rPr>
              <a:t>MOUNTING SECTOR MAPS ........ 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5100" y="5194706"/>
            <a:ext cx="4773168" cy="135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3DDC84"/>
                </a:solidFill>
                <a:latin typeface="Consolas"/>
              </a:rPr>
              <a:t>DECRYPTING CHANNELS ......... 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5100" y="5363870"/>
            <a:ext cx="4773168" cy="135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8A94"/>
                </a:solidFill>
                <a:latin typeface="Consolas"/>
              </a:rPr>
              <a:t>LOADING DOSSIERS ........... [9]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5100" y="5533034"/>
            <a:ext cx="4773168" cy="135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FF2A44"/>
                </a:solidFill>
                <a:latin typeface="Consolas"/>
              </a:rPr>
              <a:t>OBSIDIAN:/home&gt; cat targets.log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100" y="5702198"/>
            <a:ext cx="4773168" cy="135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FF2A44"/>
                </a:solidFill>
                <a:latin typeface="Consolas"/>
              </a:rPr>
              <a:t>Kade.exe -&gt; HUNTING [TORVANE]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4884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4D8"/>
                </a:solidFill>
                <a:latin typeface="Georgia"/>
              </a:rPr>
              <a:t>TALK TO THE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69748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Encrypted uplink with the Inquisitor council.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Message The Hound — he answers.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Then open the mainframe: help, ls, cd, cat,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scan, locate, ping. A real filesystem,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with our founders inside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UI/UX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IRON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PROTOCOL.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22960" y="2057400"/>
            <a:ext cx="1371600" cy="777240"/>
          </a:xfrm>
          <a:prstGeom prst="rect">
            <a:avLst/>
          </a:prstGeom>
          <a:solidFill>
            <a:srgbClr val="050507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60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#050507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715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40864" y="2057400"/>
            <a:ext cx="1371600" cy="777240"/>
          </a:xfrm>
          <a:prstGeom prst="rect">
            <a:avLst/>
          </a:prstGeom>
          <a:solidFill>
            <a:srgbClr val="0B0B12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95728" y="2560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#0b0b12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2715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8768" y="2057400"/>
            <a:ext cx="1371600" cy="777240"/>
          </a:xfrm>
          <a:prstGeom prst="rect">
            <a:avLst/>
          </a:prstGeom>
          <a:solidFill>
            <a:srgbClr val="10101A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2560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#10101a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2715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RAISED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76672" y="2057400"/>
            <a:ext cx="1371600" cy="7772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1536" y="2560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#1e1e2e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2715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HAIRLINE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94576" y="2057400"/>
            <a:ext cx="1371600" cy="777240"/>
          </a:xfrm>
          <a:prstGeom prst="rect">
            <a:avLst/>
          </a:prstGeom>
          <a:solidFill>
            <a:srgbClr val="2A2A3E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2560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#2a2a3e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715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HAIR HI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2057400"/>
            <a:ext cx="1371600" cy="777240"/>
          </a:xfrm>
          <a:prstGeom prst="rect">
            <a:avLst/>
          </a:prstGeom>
          <a:solidFill>
            <a:srgbClr val="E8E4D8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2560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#e8e4d8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2715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BONE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30384" y="2057400"/>
            <a:ext cx="1371600" cy="777240"/>
          </a:xfrm>
          <a:prstGeom prst="rect">
            <a:avLst/>
          </a:prstGeom>
          <a:solidFill>
            <a:srgbClr val="8A8A94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85248" y="2560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#8a8a94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85248" y="2715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STEEL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3200400"/>
            <a:ext cx="1371600" cy="777240"/>
          </a:xfrm>
          <a:prstGeom prst="rect">
            <a:avLst/>
          </a:prstGeom>
          <a:solidFill>
            <a:srgbClr val="5A5A66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" y="3703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#5a5a66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858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DIM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40864" y="3200400"/>
            <a:ext cx="1371600" cy="777240"/>
          </a:xfrm>
          <a:prstGeom prst="rect">
            <a:avLst/>
          </a:prstGeom>
          <a:solidFill>
            <a:srgbClr val="E01E37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95728" y="3703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#e01e37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95728" y="3858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ACTION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58768" y="3200400"/>
            <a:ext cx="1371600" cy="777240"/>
          </a:xfrm>
          <a:prstGeom prst="rect">
            <a:avLst/>
          </a:prstGeom>
          <a:solidFill>
            <a:srgbClr val="FF2A44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13631" y="3703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#ff2a44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13631" y="3858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ALERT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76672" y="3200400"/>
            <a:ext cx="1371600" cy="777240"/>
          </a:xfrm>
          <a:prstGeom prst="rect">
            <a:avLst/>
          </a:prstGeom>
          <a:solidFill>
            <a:srgbClr val="7A0E1E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31536" y="3703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#7a0e1e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31536" y="3858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DEEP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94576" y="3200400"/>
            <a:ext cx="1371600" cy="777240"/>
          </a:xfrm>
          <a:prstGeom prst="rect">
            <a:avLst/>
          </a:prstGeom>
          <a:solidFill>
            <a:srgbClr val="F4A300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3703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#f4a300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58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WARN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0" y="3200400"/>
            <a:ext cx="1371600" cy="777240"/>
          </a:xfrm>
          <a:prstGeom prst="rect">
            <a:avLst/>
          </a:prstGeom>
          <a:solidFill>
            <a:srgbClr val="3DDC84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67344" y="3703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#3ddc84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3858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POS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30384" y="3200400"/>
            <a:ext cx="1371600" cy="777240"/>
          </a:xfrm>
          <a:prstGeom prst="rect">
            <a:avLst/>
          </a:prstGeom>
          <a:solidFill>
            <a:srgbClr val="9FB4D8"/>
          </a:solidFill>
          <a:ln w="635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85248" y="3703320"/>
            <a:ext cx="1280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8E4D8"/>
                </a:solidFill>
                <a:latin typeface="Consolas"/>
              </a:rPr>
              <a:t>#9fb4d8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85248" y="3858768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50" b="0" i="0">
                <a:solidFill>
                  <a:srgbClr val="5A5A66"/>
                </a:solidFill>
                <a:latin typeface="Consolas"/>
              </a:rPr>
              <a:t>DATA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66"/>
                </a:solidFill>
                <a:latin typeface="Consolas"/>
              </a:rPr>
              <a:t>TYPOGRAPHY — CINZEL COMMANDS · RAJDHANI OPERATES · PLEXMONO REPORTS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48463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ORDER IS PEACE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8A94"/>
                </a:solidFill>
                <a:latin typeface="Consolas"/>
              </a:rPr>
              <a:t>SIGHTING LOG // SECTOR 9 // 02:41:07 · AUTHENTICATE · DISPATCH · HUNT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66"/>
                </a:solidFill>
                <a:latin typeface="Consolas"/>
              </a:rPr>
              <a:t>MOTION: scramble titles · magnetic buttons · count-ups · radar sweep · WebAudio UI sounds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VISUAL 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3D — CUSTOM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RAYTRACER.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1874519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Eight scenes rendered by a vectorized numpy raytracer written from scratch — no external 3D software.</a:t>
            </a:r>
          </a:p>
        </p:txBody>
      </p:sp>
      <p:pic>
        <p:nvPicPr>
          <p:cNvPr id="9" name="Picture 8" descr="sig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76048"/>
            <a:ext cx="2514600" cy="1414462"/>
          </a:xfrm>
          <a:prstGeom prst="rect">
            <a:avLst/>
          </a:prstGeom>
        </p:spPr>
      </p:pic>
      <p:pic>
        <p:nvPicPr>
          <p:cNvPr id="10" name="Picture 9" descr="w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2676048"/>
            <a:ext cx="2514600" cy="1414462"/>
          </a:xfrm>
          <a:prstGeom prst="rect">
            <a:avLst/>
          </a:prstGeom>
        </p:spPr>
      </p:pic>
      <p:pic>
        <p:nvPicPr>
          <p:cNvPr id="11" name="Picture 10" descr="helm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056" y="2676048"/>
            <a:ext cx="2514600" cy="1414462"/>
          </a:xfrm>
          <a:prstGeom prst="rect">
            <a:avLst/>
          </a:prstGeom>
        </p:spPr>
      </p:pic>
      <p:pic>
        <p:nvPicPr>
          <p:cNvPr id="12" name="Picture 11" descr="plan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04" y="2676048"/>
            <a:ext cx="2514600" cy="1414462"/>
          </a:xfrm>
          <a:prstGeom prst="rect">
            <a:avLst/>
          </a:prstGeom>
        </p:spPr>
      </p:pic>
      <p:pic>
        <p:nvPicPr>
          <p:cNvPr id="13" name="Picture 12" descr="pro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687728"/>
            <a:ext cx="2514600" cy="1414462"/>
          </a:xfrm>
          <a:prstGeom prst="rect">
            <a:avLst/>
          </a:prstGeom>
        </p:spPr>
      </p:pic>
      <p:pic>
        <p:nvPicPr>
          <p:cNvPr id="14" name="Picture 13" descr="thro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3008" y="4687728"/>
            <a:ext cx="2514600" cy="1414462"/>
          </a:xfrm>
          <a:prstGeom prst="rect">
            <a:avLst/>
          </a:prstGeom>
        </p:spPr>
      </p:pic>
      <p:pic>
        <p:nvPicPr>
          <p:cNvPr id="15" name="Picture 14" descr="bla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63056" y="4687728"/>
            <a:ext cx="2514600" cy="1414462"/>
          </a:xfrm>
          <a:prstGeom prst="rect">
            <a:avLst/>
          </a:prstGeom>
        </p:spPr>
      </p:pic>
      <p:pic>
        <p:nvPicPr>
          <p:cNvPr id="16" name="Picture 15" descr="citade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33104" y="4687728"/>
            <a:ext cx="2514600" cy="141446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WHY IT'S 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SECURITY &amp;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ORIGINALITY.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22960" y="2103120"/>
            <a:ext cx="5212080" cy="150876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03120"/>
            <a:ext cx="82296" cy="150876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4D8"/>
                </a:solidFill>
                <a:latin typeface="Georgia"/>
              </a:rPr>
              <a:t>ORIGINAL UNIVERSE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4320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nine Jedi · ten sectors · six Inquisitors · seven doctrines — zero canon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03120"/>
            <a:ext cx="5212080" cy="150876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03120"/>
            <a:ext cx="82296" cy="150876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86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4D8"/>
                </a:solidFill>
                <a:latin typeface="Georgia"/>
              </a:rPr>
              <a:t>NO TEMPLATES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4320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code, glyphs, sigils, posters and sounds all built in-house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840479"/>
            <a:ext cx="5212080" cy="150876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840479"/>
            <a:ext cx="82296" cy="150876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02335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4D8"/>
                </a:solidFill>
                <a:latin typeface="Georgia"/>
              </a:rPr>
              <a:t>THREAT THEATER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80559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passphrase gate · boot sequence · incident logging — the UI is the fiction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840479"/>
            <a:ext cx="5212080" cy="150876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840479"/>
            <a:ext cx="82296" cy="150876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02335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4D8"/>
                </a:solidFill>
                <a:latin typeface="Georgia"/>
              </a:rPr>
              <a:t>OFFLINE-FIRST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480559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A8A94"/>
                </a:solidFill>
                <a:latin typeface="Consolas"/>
              </a:rPr>
              <a:t>self-hosted fonts, zero external calls, runs from a single folder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HUNT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METRICS.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22960" y="2148840"/>
            <a:ext cx="3383280" cy="178308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FF2A44"/>
                </a:solidFill>
                <a:latin typeface="Georgia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4D8"/>
                </a:solidFill>
                <a:latin typeface="Georgia"/>
              </a:rPr>
              <a:t>JEDI TARGETS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6616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A5A66"/>
                </a:solidFill>
                <a:latin typeface="Consolas"/>
              </a:rPr>
              <a:t>prioritized &amp; psychoprofiled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2148840"/>
            <a:ext cx="3383280" cy="178308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2423160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FF2A44"/>
                </a:solidFill>
                <a:latin typeface="Georgia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2461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4D8"/>
                </a:solidFill>
                <a:latin typeface="Georgia"/>
              </a:rPr>
              <a:t>SECTORS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56616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A5A66"/>
                </a:solidFill>
                <a:latin typeface="Consolas"/>
              </a:rPr>
              <a:t>live threat indices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6" y="2148840"/>
            <a:ext cx="3383280" cy="178308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91856" y="2423160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FF2A44"/>
                </a:solidFill>
                <a:latin typeface="Georgia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32461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4D8"/>
                </a:solidFill>
                <a:latin typeface="Georgia"/>
              </a:rPr>
              <a:t>INQUISITORS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356616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A5A66"/>
                </a:solidFill>
                <a:latin typeface="Consolas"/>
              </a:rPr>
              <a:t>online, in-character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160520"/>
            <a:ext cx="3383280" cy="178308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34840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FF2A44"/>
                </a:solidFill>
                <a:latin typeface="Georgia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25780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4D8"/>
                </a:solidFill>
                <a:latin typeface="Georgia"/>
              </a:rPr>
              <a:t>MODULES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57784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A5A66"/>
                </a:solidFill>
                <a:latin typeface="Consolas"/>
              </a:rPr>
              <a:t>one nervous system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4160520"/>
            <a:ext cx="3383280" cy="178308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434840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FF2A44"/>
                </a:solidFill>
                <a:latin typeface="Georgia"/>
              </a:rPr>
              <a:t>100+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525780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4D8"/>
                </a:solidFill>
                <a:latin typeface="Georgia"/>
              </a:rPr>
              <a:t>INTEL REPORTS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0288" y="557784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A5A66"/>
                </a:solidFill>
                <a:latin typeface="Consolas"/>
              </a:rPr>
              <a:t>probe drops on demand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1856" y="4160520"/>
            <a:ext cx="3383280" cy="1783080"/>
          </a:xfrm>
          <a:prstGeom prst="rect">
            <a:avLst/>
          </a:prstGeom>
          <a:solidFill>
            <a:srgbClr val="0B0B12"/>
          </a:solidFill>
          <a:ln w="9525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91856" y="4434840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FF2A44"/>
                </a:solidFill>
                <a:latin typeface="Georgia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525780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4D8"/>
                </a:solidFill>
                <a:latin typeface="Georgia"/>
              </a:rPr>
              <a:t>MERCY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557784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A5A66"/>
                </a:solidFill>
                <a:latin typeface="Consolas"/>
              </a:rPr>
              <a:t>the Emperor decides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502920" cy="3200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5A66"/>
                </a:solidFill>
                <a:latin typeface="Consolas"/>
              </a:rPr>
              <a:t>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4D8"/>
                </a:solidFill>
                <a:latin typeface="Georgia"/>
              </a:rPr>
              <a:t>THE 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2A44"/>
                </a:solidFill>
                <a:latin typeface="Georgia"/>
              </a:rPr>
              <a:t>EXPANDS.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783080"/>
            <a:ext cx="10543032" cy="0"/>
          </a:xfrm>
          <a:prstGeom prst="line">
            <a:avLst/>
          </a:prstGeom>
          <a:ln w="12700">
            <a:solidFill>
              <a:srgbClr val="1E1E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22960" y="2148840"/>
            <a:ext cx="10515600" cy="777240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350008"/>
            <a:ext cx="365760" cy="365760"/>
          </a:xfrm>
          <a:prstGeom prst="ellipse">
            <a:avLst/>
          </a:prstGeom>
          <a:noFill/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2A44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276856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4D8"/>
                </a:solidFill>
                <a:latin typeface="Georgia"/>
              </a:rPr>
              <a:t>PHASE 2 — PROBE MESH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60604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8A94"/>
                </a:solidFill>
                <a:latin typeface="Consolas"/>
              </a:rPr>
              <a:t>simulated fleet-wide probe telemetry with live alerts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108960"/>
            <a:ext cx="10515600" cy="777240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310128"/>
            <a:ext cx="365760" cy="365760"/>
          </a:xfrm>
          <a:prstGeom prst="ellipse">
            <a:avLst/>
          </a:prstGeom>
          <a:noFill/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33756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2A44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36976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4D8"/>
                </a:solidFill>
                <a:latin typeface="Georgia"/>
              </a:rPr>
              <a:t>PHASE 3 — VOICE COMMAND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661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8A94"/>
                </a:solidFill>
                <a:latin typeface="Consolas"/>
              </a:rPr>
              <a:t>talk to the mainframe; the terminal listens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069080"/>
            <a:ext cx="10515600" cy="777240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4270248"/>
            <a:ext cx="365760" cy="365760"/>
          </a:xfrm>
          <a:prstGeom prst="ellipse">
            <a:avLst/>
          </a:prstGeom>
          <a:noFill/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29768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2A44"/>
                </a:solidFill>
                <a:latin typeface="Georg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97096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4D8"/>
                </a:solidFill>
                <a:latin typeface="Georgia"/>
              </a:rPr>
              <a:t>PHASE 4 — SECTOR SIMULATION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2628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8A94"/>
                </a:solidFill>
                <a:latin typeface="Consolas"/>
              </a:rPr>
              <a:t>AI-generated Jedi behavior patterns for training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029200"/>
            <a:ext cx="10515600" cy="777240"/>
          </a:xfrm>
          <a:prstGeom prst="rect">
            <a:avLst/>
          </a:prstGeom>
          <a:solidFill>
            <a:srgbClr val="0B0B12"/>
          </a:solidFill>
          <a:ln w="7620">
            <a:solidFill>
              <a:srgbClr val="2A2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5840" y="5230368"/>
            <a:ext cx="365760" cy="365760"/>
          </a:xfrm>
          <a:prstGeom prst="ellipse">
            <a:avLst/>
          </a:prstGeom>
          <a:noFill/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25780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2A44"/>
                </a:solidFill>
                <a:latin typeface="Georg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157216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4D8"/>
                </a:solidFill>
                <a:latin typeface="Georgia"/>
              </a:rPr>
              <a:t>PHASE 5 — CITIZEN NETWORK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48640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8A94"/>
                </a:solidFill>
                <a:latin typeface="Consolas"/>
              </a:rPr>
              <a:t>anonymous tip portal feeding the intelligence grid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hr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16-Point Star 4"/>
          <p:cNvSpPr/>
          <p:nvPr/>
        </p:nvSpPr>
        <p:spPr>
          <a:xfrm>
            <a:off x="5593384" y="1783080"/>
            <a:ext cx="1005840" cy="1005840"/>
          </a:xfrm>
          <a:prstGeom prst="star16">
            <a:avLst/>
          </a:prstGeom>
          <a:solidFill>
            <a:srgbClr val="E01E37"/>
          </a:solidFill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55487" y="2145182"/>
            <a:ext cx="281635" cy="281635"/>
          </a:xfrm>
          <a:prstGeom prst="ellipse">
            <a:avLst/>
          </a:prstGeom>
          <a:noFill/>
          <a:ln w="19050">
            <a:solidFill>
              <a:srgbClr val="E8E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51042" y="2240737"/>
            <a:ext cx="90525" cy="90525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601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E8E4D8"/>
                </a:solidFill>
                <a:latin typeface="Georgia"/>
              </a:rPr>
              <a:t>THE HUNT NEVER 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F2A44"/>
                </a:solidFill>
                <a:latin typeface="Consolas"/>
              </a:rPr>
              <a:t>UNTIL THE LAST EMBER IS COLD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89120" y="4709160"/>
            <a:ext cx="3410711" cy="0"/>
          </a:xfrm>
          <a:prstGeom prst="line">
            <a:avLst/>
          </a:prstGeom>
          <a:ln w="12700">
            <a:solidFill>
              <a:srgbClr val="5A10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983480"/>
            <a:ext cx="103601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5A5A66"/>
                </a:solidFill>
                <a:latin typeface="Consolas"/>
              </a:rPr>
              <a:t>OBSIDIAN · IMPERIAL SECURITY NETWORK · TS '26</a:t>
            </a:r>
          </a:p>
          <a:p>
            <a:pPr algn="ctr">
              <a:lnSpc>
                <a:spcPct val="150000"/>
              </a:lnSpc>
            </a:pPr>
            <a:r>
              <a:rPr sz="1100" b="0" i="0">
                <a:solidFill>
                  <a:srgbClr val="5A5A66"/>
                </a:solidFill>
                <a:latin typeface="Consolas"/>
              </a:rPr>
              <a:t>ANUJ PHULERA · AARAV CHOUDHARY · JEEHAAN KWATRA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26480"/>
            <a:ext cx="10360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4A300"/>
                </a:solidFill>
                <a:latin typeface="Consolas"/>
              </a:rPr>
              <a:t>PASSPHRASE: FOR THE EMPIRE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