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g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10328" y="233172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36015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E8E4D8"/>
                </a:solidFill>
                <a:latin typeface="Cinzel"/>
              </a:rPr>
              <a:t>OBSIDIAN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000" b="0" i="0">
                <a:solidFill>
                  <a:srgbClr val="FF2A44"/>
                </a:solidFill>
                <a:latin typeface="Cinzel"/>
              </a:rPr>
              <a:t>IMPERIAL SECURITY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94"/>
                </a:solidFill>
                <a:latin typeface="Consolas"/>
              </a:rPr>
              <a:t>JEDI APPREHENSION DIVISION · TS '26 CREATIVE PRELIMS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035040"/>
            <a:ext cx="103601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5A5A66"/>
                </a:solidFill>
                <a:latin typeface="Consolas"/>
              </a:rPr>
              <a:t>TEAM ______ · SCHOOL 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8E4D8"/>
                </a:solidFill>
                <a:latin typeface="Cinzel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 i="0">
                <a:solidFill>
                  <a:srgbClr val="8A8A94"/>
                </a:solidFill>
                <a:latin typeface="Consolas"/>
              </a:rPr>
              <a:t>Order 66 has fallen. The Jedi Order is scattered — but not extinct.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 i="0">
                <a:solidFill>
                  <a:srgbClr val="8A8A94"/>
                </a:solidFill>
                <a:latin typeface="Consolas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 i="0">
                <a:solidFill>
                  <a:srgbClr val="8A8A94"/>
                </a:solidFill>
                <a:latin typeface="Consolas"/>
              </a:rPr>
              <a:t>Hundreds of survivors hide across a thousand worlds. They are rebuilding. They are recruiting. They are learning to vanish.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 i="0">
                <a:solidFill>
                  <a:srgbClr val="8A8A94"/>
                </a:solidFill>
                <a:latin typeface="Consolas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 i="0">
                <a:solidFill>
                  <a:srgbClr val="8A8A94"/>
                </a:solidFill>
                <a:latin typeface="Consolas"/>
              </a:rPr>
              <a:t>The Empire has legions, but no eyes. Reports arrive late. Intel is fragmented. Each Inquisitor hunts alone. Each sector defends its own slice of darkness.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 i="0">
                <a:solidFill>
                  <a:srgbClr val="8A8A94"/>
                </a:solidFill>
                <a:latin typeface="Consolas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 i="0">
                <a:solidFill>
                  <a:srgbClr val="8A8A94"/>
                </a:solidFill>
                <a:latin typeface="Consolas"/>
              </a:rPr>
              <a:t>A scattered enemy is still an enemy. And a scattered Empire cannot hunt.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 i="0">
                <a:solidFill>
                  <a:srgbClr val="8A8A94"/>
                </a:solidFill>
                <a:latin typeface="Consolas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 i="0">
                <a:solidFill>
                  <a:srgbClr val="8A8A94"/>
                </a:solidFill>
                <a:latin typeface="Consolas"/>
              </a:rPr>
              <a:t>OBSIDIAN exists because the galaxy is vast — and mercy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2A44"/>
                </a:solidFill>
                <a:latin typeface="Consolas"/>
              </a:rPr>
              <a:t>THE HUNT NEEDS A NERVOUS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8E4D8"/>
                </a:solidFill>
                <a:latin typeface="Cinzel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0" i="0">
                <a:solidFill>
                  <a:srgbClr val="8A8A94"/>
                </a:solidFill>
                <a:latin typeface="Cinzel"/>
              </a:rPr>
              <a:t>OBSIDIAN — a unified Imperial command network that turns every sector, probe and citizen into part of one hunting organism.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5212080" cy="91440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944368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2A44"/>
                </a:solidFill>
                <a:latin typeface="Consolas"/>
              </a:rPr>
              <a:t>◈ GALAXY TRACKER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9184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Live sector map · threat heat · probe drops · sighting log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834640"/>
            <a:ext cx="5212080" cy="91440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944368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2A44"/>
                </a:solidFill>
                <a:latin typeface="Consolas"/>
              </a:rPr>
              <a:t>◈ WANTED DOSSIERS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329184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9 original targets · psychoprofiles · printable warrants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886200"/>
            <a:ext cx="5212080" cy="91440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95928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2A44"/>
                </a:solidFill>
                <a:latin typeface="Consolas"/>
              </a:rPr>
              <a:t>◈ OPERATIONS 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34340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Kanban dispatch · squad assignment · priority tiers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886200"/>
            <a:ext cx="5212080" cy="91440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995928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2A44"/>
                </a:solidFill>
                <a:latin typeface="Consolas"/>
              </a:rPr>
              <a:t>◈ INTELLIGENCE FEED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34340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Probe &amp; ISB reports · redaction · escalation to ops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937760"/>
            <a:ext cx="5212080" cy="91440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047488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2A44"/>
                </a:solidFill>
                <a:latin typeface="Consolas"/>
              </a:rPr>
              <a:t>◈ INTERDICTION DIVISION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39496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Propaganda studio · counter-recruitment broadcasts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937760"/>
            <a:ext cx="5212080" cy="91440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5047488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2A44"/>
                </a:solidFill>
                <a:latin typeface="Consolas"/>
              </a:rPr>
              <a:t>◈ INQUISITOR UPLINK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539496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Encrypted comms with 6 original Inquisitor characters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8E4D8"/>
                </a:solidFill>
                <a:latin typeface="Cinzel"/>
              </a:rPr>
              <a:t>GALAXY TRACKER</a:t>
            </a:r>
          </a:p>
        </p:txBody>
      </p:sp>
      <p:pic>
        <p:nvPicPr>
          <p:cNvPr id="5" name="Picture 4" descr="shot-tra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01168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8E4D8"/>
                </a:solidFill>
                <a:latin typeface="Cinzel"/>
              </a:rPr>
              <a:t>WANTED DOSSIERS</a:t>
            </a:r>
          </a:p>
        </p:txBody>
      </p:sp>
      <p:pic>
        <p:nvPicPr>
          <p:cNvPr id="5" name="Picture 4" descr="shot-doss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01168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8E4D8"/>
                </a:solidFill>
                <a:latin typeface="Cinzel"/>
              </a:rPr>
              <a:t>OPERATIONS BOARD</a:t>
            </a:r>
          </a:p>
        </p:txBody>
      </p:sp>
      <p:pic>
        <p:nvPicPr>
          <p:cNvPr id="5" name="Picture 4" descr="shot-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01168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8E4D8"/>
                </a:solidFill>
                <a:latin typeface="Cinzel"/>
              </a:rPr>
              <a:t>INTELLIGENCE &amp; INTERDICTION</a:t>
            </a:r>
          </a:p>
        </p:txBody>
      </p:sp>
      <p:pic>
        <p:nvPicPr>
          <p:cNvPr id="5" name="Picture 4" descr="shot-int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697480"/>
            <a:ext cx="5120640" cy="3200400"/>
          </a:xfrm>
          <a:prstGeom prst="rect">
            <a:avLst/>
          </a:prstGeom>
        </p:spPr>
      </p:pic>
      <p:pic>
        <p:nvPicPr>
          <p:cNvPr id="6" name="Picture 5" descr="shot-inter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697480"/>
            <a:ext cx="512064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8E4D8"/>
                </a:solidFill>
                <a:latin typeface="Cinzel"/>
              </a:rPr>
              <a:t>INQUISITOR UPLINK</a:t>
            </a:r>
          </a:p>
        </p:txBody>
      </p:sp>
      <p:pic>
        <p:nvPicPr>
          <p:cNvPr id="5" name="Picture 4" descr="shot-com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697480"/>
            <a:ext cx="5120640" cy="3200400"/>
          </a:xfrm>
          <a:prstGeom prst="rect">
            <a:avLst/>
          </a:prstGeom>
        </p:spPr>
      </p:pic>
      <p:pic>
        <p:nvPicPr>
          <p:cNvPr id="6" name="Picture 5" descr="shot-arch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697480"/>
            <a:ext cx="512064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8E4D8"/>
                </a:solidFill>
                <a:latin typeface="Cinzel"/>
              </a:rPr>
              <a:t>UI/UX — IRON PROTOCOL</a:t>
            </a:r>
          </a:p>
        </p:txBody>
      </p:sp>
      <p:pic>
        <p:nvPicPr>
          <p:cNvPr id="5" name="Picture 4" descr="shot-stand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01168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8E4D8"/>
                </a:solidFill>
                <a:latin typeface="Cinzel"/>
              </a:rPr>
              <a:t>3D — CUSTOM RAYTRACER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8A8A94"/>
                </a:solidFill>
                <a:latin typeface="Consolas"/>
              </a:rPr>
              <a:t>Six scenes rendered with an original vectorized raytracer written from scratch (spheres, boxes, cylinders, CSG, reflections, glow shells).</a:t>
            </a:r>
          </a:p>
        </p:txBody>
      </p:sp>
      <p:pic>
        <p:nvPicPr>
          <p:cNvPr id="6" name="Picture 5" descr="sig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59" y="2477452"/>
            <a:ext cx="3383280" cy="1903095"/>
          </a:xfrm>
          <a:prstGeom prst="rect">
            <a:avLst/>
          </a:prstGeom>
        </p:spPr>
      </p:pic>
      <p:pic>
        <p:nvPicPr>
          <p:cNvPr id="7" name="Picture 6" descr="wa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2477452"/>
            <a:ext cx="3383280" cy="1903095"/>
          </a:xfrm>
          <a:prstGeom prst="rect">
            <a:avLst/>
          </a:prstGeom>
        </p:spPr>
      </p:pic>
      <p:pic>
        <p:nvPicPr>
          <p:cNvPr id="8" name="Picture 7" descr="helm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2477452"/>
            <a:ext cx="3383280" cy="1903095"/>
          </a:xfrm>
          <a:prstGeom prst="rect">
            <a:avLst/>
          </a:prstGeom>
        </p:spPr>
      </p:pic>
      <p:pic>
        <p:nvPicPr>
          <p:cNvPr id="9" name="Picture 8" descr="plan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59" y="4580572"/>
            <a:ext cx="3383280" cy="1903095"/>
          </a:xfrm>
          <a:prstGeom prst="rect">
            <a:avLst/>
          </a:prstGeom>
        </p:spPr>
      </p:pic>
      <p:pic>
        <p:nvPicPr>
          <p:cNvPr id="10" name="Picture 9" descr="pro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4580572"/>
            <a:ext cx="3383280" cy="1903095"/>
          </a:xfrm>
          <a:prstGeom prst="rect">
            <a:avLst/>
          </a:prstGeom>
        </p:spPr>
      </p:pic>
      <p:pic>
        <p:nvPicPr>
          <p:cNvPr id="11" name="Picture 10" descr="thro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8160" y="4580572"/>
            <a:ext cx="3383280" cy="190309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8E4D8"/>
                </a:solidFill>
                <a:latin typeface="Cinzel"/>
              </a:rPr>
              <a:t>PROMO FILM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8A8A94"/>
                </a:solidFill>
                <a:latin typeface="Consolas"/>
              </a:rPr>
              <a:t>OBSIDIAN — 62s cinematic trailer · original score &amp; sound design · voiceover · app footage · 3D renders</a:t>
            </a:r>
          </a:p>
        </p:txBody>
      </p:sp>
      <p:pic>
        <p:nvPicPr>
          <p:cNvPr id="6" name="Picture 5" descr="card-obsid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377440"/>
            <a:ext cx="73152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A5A66"/>
                </a:solidFill>
                <a:latin typeface="Consolas"/>
              </a:rPr>
              <a:t>FILE: deliverables/video/OBSIDIAN-PROMO.mp4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8E4D8"/>
                </a:solidFill>
                <a:latin typeface="Cinzel"/>
              </a:rPr>
              <a:t>SECURITY BY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94560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2A44"/>
                </a:solidFill>
                <a:latin typeface="Consolas"/>
              </a:rPr>
              <a:t>CLASSIFIED BOOT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560320"/>
            <a:ext cx="9966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94"/>
                </a:solidFill>
                <a:latin typeface="Consolas"/>
              </a:rPr>
              <a:t>Passphrase gate (FOR THE EMPIRE) with clearance verification and incident logging on failure.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127248"/>
            <a:ext cx="10515600" cy="91440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21868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2A44"/>
                </a:solidFill>
                <a:latin typeface="Consolas"/>
              </a:rPr>
              <a:t>THREAT THEATER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584448"/>
            <a:ext cx="9966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94"/>
                </a:solidFill>
                <a:latin typeface="Consolas"/>
              </a:rPr>
              <a:t>Scanlines, CRT vignette, terminal aesthetic — the interface itself communicates surveillance.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151376"/>
            <a:ext cx="10515600" cy="91440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42816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2A44"/>
                </a:solidFill>
                <a:latin typeface="Consolas"/>
              </a:rPr>
              <a:t>ORIGINAL UNIVERSE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608576"/>
            <a:ext cx="9966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94"/>
                </a:solidFill>
                <a:latin typeface="Consolas"/>
              </a:rPr>
              <a:t>All 9 targets, 10 sectors, 6 Inquisitors, doctrines and records are original creations. Zero canon references.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175504"/>
            <a:ext cx="10515600" cy="91440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266944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2A44"/>
                </a:solidFill>
                <a:latin typeface="Consolas"/>
              </a:rPr>
              <a:t>OFFLINE-FIRST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632704"/>
            <a:ext cx="9966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94"/>
                </a:solidFill>
                <a:latin typeface="Consolas"/>
              </a:rPr>
              <a:t>Self-hosted fonts, zero external calls. Runs from a single folder or any static host.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377440" cy="41148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8E4D8"/>
                </a:solidFill>
                <a:latin typeface="Cinzel"/>
              </a:rPr>
              <a:t>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94560"/>
            <a:ext cx="3383280" cy="173736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000" b="1" i="0">
                <a:solidFill>
                  <a:srgbClr val="FF2A44"/>
                </a:solidFill>
                <a:latin typeface="Cinzel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9184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JEDI TARGETS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PRIORITIZED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2194560"/>
            <a:ext cx="3383280" cy="173736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246888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000" b="1" i="0">
                <a:solidFill>
                  <a:srgbClr val="FF2A44"/>
                </a:solidFill>
                <a:latin typeface="Cinzel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29184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SECTORS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COVERED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4206240"/>
            <a:ext cx="3383280" cy="173736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448056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000" b="1" i="0">
                <a:solidFill>
                  <a:srgbClr val="FF2A44"/>
                </a:solidFill>
                <a:latin typeface="Cinze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530352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INQUISITORS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ONLINE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206240"/>
            <a:ext cx="3383280" cy="173736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000" b="1" i="0">
                <a:solidFill>
                  <a:srgbClr val="FF2A44"/>
                </a:solidFill>
                <a:latin typeface="Cinzel"/>
              </a:rPr>
              <a:t>100+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30352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INTEL REPORTS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GENERATABLE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0" y="6217920"/>
            <a:ext cx="3383280" cy="173736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649224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000" b="1" i="0">
                <a:solidFill>
                  <a:srgbClr val="FF2A44"/>
                </a:solidFill>
                <a:latin typeface="Cinzel"/>
              </a:rPr>
              <a:t>62s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731520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CINEMATIC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TRAILER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6217920"/>
            <a:ext cx="3383280" cy="1737360"/>
          </a:xfrm>
          <a:prstGeom prst="rect">
            <a:avLst/>
          </a:prstGeom>
          <a:solidFill>
            <a:srgbClr val="0B0B12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649224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000" b="1" i="0">
                <a:solidFill>
                  <a:srgbClr val="FF2A44"/>
                </a:solidFill>
                <a:latin typeface="Cinzel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731520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3D RENDERS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94"/>
                </a:solidFill>
                <a:latin typeface="Consolas"/>
              </a:rPr>
              <a:t>CUSTOM ENGINE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hr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6015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5200" b="1" i="0">
                <a:solidFill>
                  <a:srgbClr val="E8E4D8"/>
                </a:solidFill>
                <a:latin typeface="Cinzel"/>
              </a:rPr>
              <a:t>THE HUNT NEVER 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F2A44"/>
                </a:solidFill>
                <a:latin typeface="Consolas"/>
              </a:rPr>
              <a:t>UNTIL THE LAST EMBER IS COLD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9496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5A5A66"/>
                </a:solidFill>
                <a:latin typeface="Consolas"/>
              </a:rPr>
              <a:t>OBSIDIAN · IMPERIAL SECURITY NETWORK · TS '26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