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6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ig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3" cy="7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6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16-Point Star 4"/>
          <p:cNvSpPr/>
          <p:nvPr/>
        </p:nvSpPr>
        <p:spPr>
          <a:xfrm>
            <a:off x="5547664" y="1417319"/>
            <a:ext cx="1097280" cy="1097280"/>
          </a:xfrm>
          <a:prstGeom prst="star16">
            <a:avLst/>
          </a:prstGeom>
          <a:solidFill>
            <a:srgbClr val="E01E37"/>
          </a:solidFill>
          <a:ln w="12700">
            <a:solidFill>
              <a:srgbClr val="E01E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53658" y="1823313"/>
            <a:ext cx="285292" cy="285292"/>
          </a:xfrm>
          <a:prstGeom prst="ellipse">
            <a:avLst/>
          </a:prstGeom>
          <a:noFill/>
          <a:ln w="15240">
            <a:solidFill>
              <a:srgbClr val="EAE6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052413" y="1922068"/>
            <a:ext cx="87782" cy="87782"/>
          </a:xfrm>
          <a:prstGeom prst="ellipse">
            <a:avLst/>
          </a:prstGeom>
          <a:solidFill>
            <a:srgbClr val="F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60152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1" i="0">
                <a:solidFill>
                  <a:srgbClr val="EAE6DA"/>
                </a:solidFill>
                <a:latin typeface="Georgia"/>
              </a:rPr>
              <a:t>OBSIDIAN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1036015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2A44"/>
                </a:solidFill>
                <a:latin typeface="Consolas"/>
              </a:rPr>
              <a:t>THE EMPIRE'S NERVOUS SYSTEM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206240" y="4343400"/>
            <a:ext cx="3776472" cy="0"/>
          </a:xfrm>
          <a:prstGeom prst="line">
            <a:avLst/>
          </a:prstGeom>
          <a:ln w="12700">
            <a:solidFill>
              <a:srgbClr val="5A10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14400" y="4526280"/>
            <a:ext cx="1036015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9494A2"/>
                </a:solidFill>
                <a:latin typeface="Consolas"/>
              </a:rPr>
              <a:t>A classified command portal for the post-Order-66 hunt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1050" b="0" i="0">
                <a:solidFill>
                  <a:srgbClr val="5E5E6E"/>
                </a:solidFill>
                <a:latin typeface="Consolas"/>
              </a:rPr>
              <a:t>ANUJ PHULERA · AARAV CHOUDHARY · JEEHAAN KWATRA</a:t>
            </a:r>
          </a:p>
          <a:p>
            <a:pPr algn="ctr">
              <a:lnSpc>
                <a:spcPct val="160000"/>
              </a:lnSpc>
            </a:pPr>
            <a:r>
              <a:rPr sz="1050" b="0" i="0">
                <a:solidFill>
                  <a:srgbClr val="5E5E6E"/>
                </a:solidFill>
                <a:latin typeface="Consolas"/>
              </a:rPr>
              <a:t>TS '26 CREATIVE PRELIMS · PATH 2 — THE EMPIRE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6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2A44"/>
                </a:solidFill>
                <a:latin typeface="Consolas"/>
              </a:rPr>
              <a:t>THE PROBLEM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914400"/>
            <a:ext cx="502920" cy="0"/>
          </a:xfrm>
          <a:prstGeom prst="line">
            <a:avLst/>
          </a:prstGeom>
          <a:ln w="25400">
            <a:solidFill>
              <a:srgbClr val="E01E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0515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EAE6DA"/>
                </a:solidFill>
                <a:latin typeface="Georgia"/>
              </a:rPr>
              <a:t>The galaxy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F2A44"/>
                </a:solidFill>
                <a:latin typeface="Georgia"/>
              </a:rPr>
              <a:t>scattered.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6446520"/>
            <a:ext cx="10543032" cy="0"/>
          </a:xfrm>
          <a:prstGeom prst="line">
            <a:avLst/>
          </a:prstGeom>
          <a:ln w="9525">
            <a:solidFill>
              <a:srgbClr val="22223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60" y="6510528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3A3A4A"/>
                </a:solidFill>
                <a:latin typeface="Consolas"/>
              </a:rPr>
              <a:t>OBSIDIAN ·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510528"/>
            <a:ext cx="1033271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i="0">
                <a:solidFill>
                  <a:srgbClr val="5E5E6E"/>
                </a:solidFill>
                <a:latin typeface="Consola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148840"/>
            <a:ext cx="6035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9494A2"/>
                </a:solidFill>
                <a:latin typeface="Consolas"/>
              </a:rPr>
              <a:t>Order 66 fell. Hundreds of Jedi survive across a thousand worlds — rebuilding, recruiting, learning to vanish.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71800"/>
            <a:ext cx="6035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EAE6DA"/>
                </a:solidFill>
                <a:latin typeface="Georgia"/>
              </a:rPr>
              <a:t>The Empire has legions — but no eyes.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657600"/>
            <a:ext cx="2560320" cy="1051560"/>
          </a:xfrm>
          <a:prstGeom prst="rect">
            <a:avLst/>
          </a:prstGeom>
          <a:solidFill>
            <a:srgbClr val="0B0B12"/>
          </a:solidFill>
          <a:ln w="9525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" y="3657600"/>
            <a:ext cx="64008" cy="1051560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38039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AE6DA"/>
                </a:solidFill>
                <a:latin typeface="Georgia"/>
              </a:rPr>
              <a:t>FRAGMENTED INTEL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4187952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9494A2"/>
                </a:solidFill>
                <a:latin typeface="Consolas"/>
              </a:rPr>
              <a:t>reports filed into a void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0440" y="3657600"/>
            <a:ext cx="2560320" cy="1051560"/>
          </a:xfrm>
          <a:prstGeom prst="rect">
            <a:avLst/>
          </a:prstGeom>
          <a:solidFill>
            <a:srgbClr val="0B0B12"/>
          </a:solidFill>
          <a:ln w="9525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20440" y="3657600"/>
            <a:ext cx="64008" cy="1051560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1608" y="380390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AE6DA"/>
                </a:solidFill>
                <a:latin typeface="Georgia"/>
              </a:rPr>
              <a:t>ISOLATED HUNTERS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1608" y="4187952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9494A2"/>
                </a:solidFill>
                <a:latin typeface="Consolas"/>
              </a:rPr>
              <a:t>six Inquisitors, six hunts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892040"/>
            <a:ext cx="2560320" cy="1051560"/>
          </a:xfrm>
          <a:prstGeom prst="rect">
            <a:avLst/>
          </a:prstGeom>
          <a:solidFill>
            <a:srgbClr val="0B0B12"/>
          </a:solidFill>
          <a:ln w="9525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4892040"/>
            <a:ext cx="64008" cy="1051560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4128" y="503834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AE6DA"/>
                </a:solidFill>
                <a:latin typeface="Georgia"/>
              </a:rPr>
              <a:t>NO RECRUIT DEFENSE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5422392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9494A2"/>
                </a:solidFill>
                <a:latin typeface="Consolas"/>
              </a:rPr>
              <a:t>the Order recruits freely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20440" y="4892040"/>
            <a:ext cx="2560320" cy="1051560"/>
          </a:xfrm>
          <a:prstGeom prst="rect">
            <a:avLst/>
          </a:prstGeom>
          <a:solidFill>
            <a:srgbClr val="0B0B12"/>
          </a:solidFill>
          <a:ln w="9525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20440" y="4892040"/>
            <a:ext cx="64008" cy="1051560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21608" y="5038344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AE6DA"/>
                </a:solidFill>
                <a:latin typeface="Georgia"/>
              </a:rPr>
              <a:t>NO DECISION LAYER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21608" y="5422392"/>
            <a:ext cx="2286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9494A2"/>
                </a:solidFill>
                <a:latin typeface="Consolas"/>
              </a:rPr>
              <a:t>intel never becomes action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22402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E5E6E"/>
                </a:solidFill>
                <a:latin typeface="Consolas"/>
              </a:rPr>
              <a:t>EVERY TARGET IN THE FIELD</a:t>
            </a:r>
          </a:p>
        </p:txBody>
      </p:sp>
      <p:sp>
        <p:nvSpPr>
          <p:cNvPr id="29" name="Oval 28"/>
          <p:cNvSpPr/>
          <p:nvPr/>
        </p:nvSpPr>
        <p:spPr>
          <a:xfrm>
            <a:off x="7406640" y="2697480"/>
            <a:ext cx="137160" cy="137160"/>
          </a:xfrm>
          <a:prstGeom prst="ellipse">
            <a:avLst/>
          </a:prstGeom>
          <a:solidFill>
            <a:srgbClr val="F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38160" y="3063240"/>
            <a:ext cx="137160" cy="137160"/>
          </a:xfrm>
          <a:prstGeom prst="ellipse">
            <a:avLst/>
          </a:prstGeom>
          <a:solidFill>
            <a:srgbClr val="F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869680" y="2606040"/>
            <a:ext cx="137160" cy="137160"/>
          </a:xfrm>
          <a:prstGeom prst="ellipse">
            <a:avLst/>
          </a:prstGeom>
          <a:solidFill>
            <a:srgbClr val="F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72400" y="3520440"/>
            <a:ext cx="137160" cy="137160"/>
          </a:xfrm>
          <a:prstGeom prst="ellipse">
            <a:avLst/>
          </a:prstGeom>
          <a:solidFill>
            <a:srgbClr val="F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509760" y="3017520"/>
            <a:ext cx="137160" cy="137160"/>
          </a:xfrm>
          <a:prstGeom prst="ellipse">
            <a:avLst/>
          </a:prstGeom>
          <a:solidFill>
            <a:srgbClr val="F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412480" y="3977639"/>
            <a:ext cx="137160" cy="137160"/>
          </a:xfrm>
          <a:prstGeom prst="ellipse">
            <a:avLst/>
          </a:prstGeom>
          <a:solidFill>
            <a:srgbClr val="94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966960" y="2697480"/>
            <a:ext cx="137160" cy="137160"/>
          </a:xfrm>
          <a:prstGeom prst="ellipse">
            <a:avLst/>
          </a:prstGeom>
          <a:solidFill>
            <a:srgbClr val="949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406640" y="3886200"/>
            <a:ext cx="137160" cy="137160"/>
          </a:xfrm>
          <a:prstGeom prst="ellipse">
            <a:avLst/>
          </a:prstGeom>
          <a:solidFill>
            <a:srgbClr val="F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23760" y="448056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 i="0">
                <a:solidFill>
                  <a:srgbClr val="5E5E6E"/>
                </a:solidFill>
                <a:latin typeface="Consolas"/>
              </a:rPr>
              <a:t>9 targets · 10 sectors · 6 hunters</a:t>
            </a:r>
          </a:p>
          <a:p>
            <a:pPr algn="l">
              <a:lnSpc>
                <a:spcPct val="150000"/>
              </a:lnSpc>
            </a:pPr>
            <a:r>
              <a:rPr sz="900" b="0" i="0">
                <a:solidFill>
                  <a:srgbClr val="5E5E6E"/>
                </a:solidFill>
                <a:latin typeface="Consolas"/>
              </a:rPr>
              <a:t>zero coordination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6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2A44"/>
                </a:solidFill>
                <a:latin typeface="Consolas"/>
              </a:rPr>
              <a:t>THE SOLUTION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914400"/>
            <a:ext cx="502920" cy="0"/>
          </a:xfrm>
          <a:prstGeom prst="line">
            <a:avLst/>
          </a:prstGeom>
          <a:ln w="25400">
            <a:solidFill>
              <a:srgbClr val="E01E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0515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EAE6DA"/>
                </a:solidFill>
                <a:latin typeface="Georgia"/>
              </a:rPr>
              <a:t>One nervous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F2A44"/>
                </a:solidFill>
                <a:latin typeface="Georgia"/>
              </a:rPr>
              <a:t>system.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6446520"/>
            <a:ext cx="10543032" cy="0"/>
          </a:xfrm>
          <a:prstGeom prst="line">
            <a:avLst/>
          </a:prstGeom>
          <a:ln w="9525">
            <a:solidFill>
              <a:srgbClr val="22223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60" y="6510528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3A3A4A"/>
                </a:solidFill>
                <a:latin typeface="Consolas"/>
              </a:rPr>
              <a:t>OBSIDIAN ·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510528"/>
            <a:ext cx="1033271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i="0">
                <a:solidFill>
                  <a:srgbClr val="5E5E6E"/>
                </a:solidFill>
                <a:latin typeface="Consolas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1031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9494A2"/>
                </a:solidFill>
                <a:latin typeface="Consolas"/>
              </a:rPr>
              <a:t>OBSIDIAN turns a disorganized purge into a single hunting organism — every sector, probe and citizen a sensor in the Emperor's hand.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200400"/>
            <a:ext cx="2560320" cy="2377440"/>
          </a:xfrm>
          <a:prstGeom prst="rect">
            <a:avLst/>
          </a:prstGeom>
          <a:solidFill>
            <a:srgbClr val="0B0B12"/>
          </a:solidFill>
          <a:ln w="9525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3200400"/>
            <a:ext cx="2560320" cy="54864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2044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F2A44"/>
                </a:solidFill>
                <a:latin typeface="Georgia"/>
              </a:rPr>
              <a:t>TRACK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160520"/>
            <a:ext cx="2148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 i="0">
                <a:solidFill>
                  <a:srgbClr val="9494A2"/>
                </a:solidFill>
                <a:latin typeface="Consolas"/>
              </a:rPr>
              <a:t>radar, probes, sightings — one grid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20440" y="3200400"/>
            <a:ext cx="2560320" cy="2377440"/>
          </a:xfrm>
          <a:prstGeom prst="rect">
            <a:avLst/>
          </a:prstGeom>
          <a:solidFill>
            <a:srgbClr val="0B0B12"/>
          </a:solidFill>
          <a:ln w="9525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20440" y="3200400"/>
            <a:ext cx="2560320" cy="54864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9039" y="352044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F2A44"/>
                </a:solidFill>
                <a:latin typeface="Georgia"/>
              </a:rPr>
              <a:t>PLAN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4160520"/>
            <a:ext cx="2148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 i="0">
                <a:solidFill>
                  <a:srgbClr val="9494A2"/>
                </a:solidFill>
                <a:latin typeface="Consolas"/>
              </a:rPr>
              <a:t>intel becomes dispatch in one board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3200400"/>
            <a:ext cx="2560320" cy="2377440"/>
          </a:xfrm>
          <a:prstGeom prst="rect">
            <a:avLst/>
          </a:prstGeom>
          <a:solidFill>
            <a:srgbClr val="0B0B12"/>
          </a:solidFill>
          <a:ln w="9525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3200400"/>
            <a:ext cx="2560320" cy="54864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352044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F2A44"/>
                </a:solidFill>
                <a:latin typeface="Georgia"/>
              </a:rPr>
              <a:t>COMMAND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160520"/>
            <a:ext cx="2148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 i="0">
                <a:solidFill>
                  <a:srgbClr val="9494A2"/>
                </a:solidFill>
                <a:latin typeface="Consolas"/>
              </a:rPr>
              <a:t>every Inquisitor on one channel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15400" y="3200400"/>
            <a:ext cx="2560320" cy="2377440"/>
          </a:xfrm>
          <a:prstGeom prst="rect">
            <a:avLst/>
          </a:prstGeom>
          <a:solidFill>
            <a:srgbClr val="0B0B12"/>
          </a:solidFill>
          <a:ln w="9525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15400" y="3200400"/>
            <a:ext cx="2560320" cy="54864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0" y="352044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F2A44"/>
                </a:solidFill>
                <a:latin typeface="Georgia"/>
              </a:rPr>
              <a:t>DISRUPT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4160520"/>
            <a:ext cx="2148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 i="0">
                <a:solidFill>
                  <a:srgbClr val="9494A2"/>
                </a:solidFill>
                <a:latin typeface="Consolas"/>
              </a:rPr>
              <a:t>counter-recruitment at broadcast scale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4A300"/>
                </a:solidFill>
                <a:latin typeface="Consolas"/>
              </a:rPr>
              <a:t>PASSPHRASE GATE → TYPED BOOT → CLEARANCE ALPHA-7 → FULL NETWORK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6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2A44"/>
                </a:solidFill>
                <a:latin typeface="Consolas"/>
              </a:rPr>
              <a:t>WHY NOW · THE MOMENT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914400"/>
            <a:ext cx="502920" cy="0"/>
          </a:xfrm>
          <a:prstGeom prst="line">
            <a:avLst/>
          </a:prstGeom>
          <a:ln w="25400">
            <a:solidFill>
              <a:srgbClr val="E01E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0515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EAE6DA"/>
                </a:solidFill>
                <a:latin typeface="Georgia"/>
              </a:rPr>
              <a:t>The window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F2A44"/>
                </a:solidFill>
                <a:latin typeface="Georgia"/>
              </a:rPr>
              <a:t>open.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6446520"/>
            <a:ext cx="10543032" cy="0"/>
          </a:xfrm>
          <a:prstGeom prst="line">
            <a:avLst/>
          </a:prstGeom>
          <a:ln w="9525">
            <a:solidFill>
              <a:srgbClr val="22223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60" y="6510528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3A3A4A"/>
                </a:solidFill>
                <a:latin typeface="Consolas"/>
              </a:rPr>
              <a:t>OBSIDIAN · WHY 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510528"/>
            <a:ext cx="1033271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i="0">
                <a:solidFill>
                  <a:srgbClr val="5E5E6E"/>
                </a:solidFill>
                <a:latin typeface="Consolas"/>
              </a:rP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103120"/>
            <a:ext cx="5852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 i="0">
                <a:solidFill>
                  <a:srgbClr val="9494A2"/>
                </a:solidFill>
                <a:latin typeface="Consolas"/>
              </a:rPr>
              <a:t>The brief hands us the moment: post-Order 66, survivors scattered, Empire uncoordinated. Whoever builds the nervous system first, wins the galaxy.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566160"/>
            <a:ext cx="5852160" cy="731520"/>
          </a:xfrm>
          <a:prstGeom prst="rect">
            <a:avLst/>
          </a:prstGeom>
          <a:solidFill>
            <a:srgbClr val="0B0B12"/>
          </a:solidFill>
          <a:ln w="9525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3749039"/>
            <a:ext cx="777240" cy="365760"/>
          </a:xfrm>
          <a:prstGeom prst="rect">
            <a:avLst/>
          </a:prstGeom>
          <a:solidFill>
            <a:srgbClr val="160A10"/>
          </a:solidFill>
          <a:ln w="9525">
            <a:solidFill>
              <a:srgbClr val="E01E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822191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EAE6DA"/>
                </a:solidFill>
                <a:latin typeface="Consolas"/>
              </a:rPr>
              <a:t>TAM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3694176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2A44"/>
                </a:solidFill>
                <a:latin typeface="Georgia"/>
              </a:rPr>
              <a:t>THE GALAXY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4023360"/>
            <a:ext cx="4480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94A2"/>
                </a:solidFill>
                <a:latin typeface="Consolas"/>
              </a:rPr>
              <a:t>a thousand worlds, unchecked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434840"/>
            <a:ext cx="5852160" cy="731520"/>
          </a:xfrm>
          <a:prstGeom prst="rect">
            <a:avLst/>
          </a:prstGeom>
          <a:solidFill>
            <a:srgbClr val="0B0B12"/>
          </a:solidFill>
          <a:ln w="9525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05840" y="4617720"/>
            <a:ext cx="777240" cy="365760"/>
          </a:xfrm>
          <a:prstGeom prst="rect">
            <a:avLst/>
          </a:prstGeom>
          <a:solidFill>
            <a:srgbClr val="0B0B12"/>
          </a:solidFill>
          <a:ln w="9525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690872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9494A2"/>
                </a:solidFill>
                <a:latin typeface="Consolas"/>
              </a:rPr>
              <a:t>SAM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562855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4A300"/>
                </a:solidFill>
                <a:latin typeface="Georgia"/>
              </a:rPr>
              <a:t>THE EMPIRE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4892040"/>
            <a:ext cx="4480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94A2"/>
                </a:solidFill>
                <a:latin typeface="Consolas"/>
              </a:rPr>
              <a:t>ten sectors, eight legions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303520"/>
            <a:ext cx="5852160" cy="731520"/>
          </a:xfrm>
          <a:prstGeom prst="rect">
            <a:avLst/>
          </a:prstGeom>
          <a:solidFill>
            <a:srgbClr val="0B0B12"/>
          </a:solidFill>
          <a:ln w="9525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05840" y="5486400"/>
            <a:ext cx="777240" cy="365760"/>
          </a:xfrm>
          <a:prstGeom prst="rect">
            <a:avLst/>
          </a:prstGeom>
          <a:solidFill>
            <a:srgbClr val="0B0B12"/>
          </a:solidFill>
          <a:ln w="9525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559552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9494A2"/>
                </a:solidFill>
                <a:latin typeface="Consolas"/>
              </a:rPr>
              <a:t>SOM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5960" y="5431536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AE6DA"/>
                </a:solidFill>
                <a:latin typeface="Georgia"/>
              </a:rPr>
              <a:t>THE HUNT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65960" y="5760720"/>
            <a:ext cx="4480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94A2"/>
                </a:solidFill>
                <a:latin typeface="Consolas"/>
              </a:rPr>
              <a:t>nine classified targets, now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2194560"/>
            <a:ext cx="4206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E5E6E"/>
                </a:solidFill>
                <a:latin typeface="Consolas"/>
              </a:rPr>
              <a:t>WHY OBSIDIAN WINS THE WINDOW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32320" y="2697480"/>
            <a:ext cx="4206240" cy="621792"/>
          </a:xfrm>
          <a:prstGeom prst="rect">
            <a:avLst/>
          </a:prstGeom>
          <a:solidFill>
            <a:srgbClr val="0B0B12"/>
          </a:solidFill>
          <a:ln w="7620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DDC84"/>
                </a:solidFill>
                <a:latin typeface="Consolas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79" y="2834640"/>
            <a:ext cx="3520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9494A2"/>
                </a:solidFill>
                <a:latin typeface="Consolas"/>
              </a:rPr>
              <a:t>Demoable live — judges operate it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0" y="3474720"/>
            <a:ext cx="4206240" cy="621792"/>
          </a:xfrm>
          <a:prstGeom prst="rect">
            <a:avLst/>
          </a:prstGeom>
          <a:solidFill>
            <a:srgbClr val="0B0B12"/>
          </a:solidFill>
          <a:ln w="7620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0" y="361188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DDC84"/>
                </a:solidFill>
                <a:latin typeface="Consolas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26679" y="3611880"/>
            <a:ext cx="3520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9494A2"/>
                </a:solidFill>
                <a:latin typeface="Consolas"/>
              </a:rPr>
              <a:t>Original — nothing canon, nothing borrowed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32320" y="4251960"/>
            <a:ext cx="4206240" cy="621792"/>
          </a:xfrm>
          <a:prstGeom prst="rect">
            <a:avLst/>
          </a:prstGeom>
          <a:solidFill>
            <a:srgbClr val="0B0B12"/>
          </a:solidFill>
          <a:ln w="7620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0" y="438912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DDC84"/>
                </a:solidFill>
                <a:latin typeface="Consolas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26679" y="4389120"/>
            <a:ext cx="3520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9494A2"/>
                </a:solidFill>
                <a:latin typeface="Consolas"/>
              </a:rPr>
              <a:t>Complete — app, deck, film, 3D, design system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32320" y="5029200"/>
            <a:ext cx="4206240" cy="621792"/>
          </a:xfrm>
          <a:prstGeom prst="rect">
            <a:avLst/>
          </a:prstGeom>
          <a:solidFill>
            <a:srgbClr val="0B0B12"/>
          </a:solidFill>
          <a:ln w="7620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0" y="516636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DDC84"/>
                </a:solidFill>
                <a:latin typeface="Consolas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26679" y="5166360"/>
            <a:ext cx="3520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9494A2"/>
                </a:solidFill>
                <a:latin typeface="Consolas"/>
              </a:rPr>
              <a:t>Offline-first — runs anywhere, forever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6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2A44"/>
                </a:solidFill>
                <a:latin typeface="Consolas"/>
              </a:rPr>
              <a:t>THE PRODUCT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914400"/>
            <a:ext cx="502920" cy="0"/>
          </a:xfrm>
          <a:prstGeom prst="line">
            <a:avLst/>
          </a:prstGeom>
          <a:ln w="25400">
            <a:solidFill>
              <a:srgbClr val="E01E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0515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EAE6DA"/>
                </a:solidFill>
                <a:latin typeface="Georgia"/>
              </a:rPr>
              <a:t>Twelve modules.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F2A44"/>
                </a:solidFill>
                <a:latin typeface="Georgia"/>
              </a:rPr>
              <a:t>One hunt.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6446520"/>
            <a:ext cx="10543032" cy="0"/>
          </a:xfrm>
          <a:prstGeom prst="line">
            <a:avLst/>
          </a:prstGeom>
          <a:ln w="9525">
            <a:solidFill>
              <a:srgbClr val="22223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60" y="6510528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3A3A4A"/>
                </a:solidFill>
                <a:latin typeface="Consolas"/>
              </a:rPr>
              <a:t>OBSIDIAN · 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510528"/>
            <a:ext cx="1033271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i="0">
                <a:solidFill>
                  <a:srgbClr val="5E5E6E"/>
                </a:solidFill>
                <a:latin typeface="Consolas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148840"/>
            <a:ext cx="3429000" cy="1170432"/>
          </a:xfrm>
          <a:prstGeom prst="rect">
            <a:avLst/>
          </a:prstGeom>
          <a:solidFill>
            <a:srgbClr val="0B0B12"/>
          </a:solidFill>
          <a:ln w="7620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2276856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F2A44"/>
                </a:solidFill>
                <a:latin typeface="Georgia"/>
              </a:rPr>
              <a:t>001  COMMAND DECK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715768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94A2"/>
                </a:solidFill>
                <a:latin typeface="Consolas"/>
              </a:rPr>
              <a:t>hero status board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07408" y="2148840"/>
            <a:ext cx="3429000" cy="1170432"/>
          </a:xfrm>
          <a:prstGeom prst="rect">
            <a:avLst/>
          </a:prstGeom>
          <a:solidFill>
            <a:srgbClr val="0B0B12"/>
          </a:solidFill>
          <a:ln w="7620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8576" y="2276856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EAE6DA"/>
                </a:solidFill>
                <a:latin typeface="Georgia"/>
              </a:rPr>
              <a:t>002  GALAXY TRACKER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8576" y="2715768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94A2"/>
                </a:solidFill>
                <a:latin typeface="Consolas"/>
              </a:rPr>
              <a:t>radar + probe drops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91856" y="2148840"/>
            <a:ext cx="3429000" cy="1170432"/>
          </a:xfrm>
          <a:prstGeom prst="rect">
            <a:avLst/>
          </a:prstGeom>
          <a:solidFill>
            <a:srgbClr val="0B0B12"/>
          </a:solidFill>
          <a:ln w="7620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93024" y="2276856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EAE6DA"/>
                </a:solidFill>
                <a:latin typeface="Georgia"/>
              </a:rPr>
              <a:t>003  WANTED DOSSIERS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3024" y="2715768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94A2"/>
                </a:solidFill>
                <a:latin typeface="Consolas"/>
              </a:rPr>
              <a:t>9 psychoprofiled targets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474720"/>
            <a:ext cx="3429000" cy="1170432"/>
          </a:xfrm>
          <a:prstGeom prst="rect">
            <a:avLst/>
          </a:prstGeom>
          <a:solidFill>
            <a:srgbClr val="0B0B12"/>
          </a:solidFill>
          <a:ln w="7620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3602736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F2A44"/>
                </a:solidFill>
                <a:latin typeface="Georgia"/>
              </a:rPr>
              <a:t>004  INTELLIGENCE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4041648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94A2"/>
                </a:solidFill>
                <a:latin typeface="Consolas"/>
              </a:rPr>
              <a:t>probe/ISB feed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07408" y="3474720"/>
            <a:ext cx="3429000" cy="1170432"/>
          </a:xfrm>
          <a:prstGeom prst="rect">
            <a:avLst/>
          </a:prstGeom>
          <a:solidFill>
            <a:srgbClr val="0B0B12"/>
          </a:solidFill>
          <a:ln w="7620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08576" y="3602736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EAE6DA"/>
                </a:solidFill>
                <a:latin typeface="Georgia"/>
              </a:rPr>
              <a:t>005  OPERATIONS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8576" y="4041648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94A2"/>
                </a:solidFill>
                <a:latin typeface="Consolas"/>
              </a:rPr>
              <a:t>kanban dispatch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91856" y="3474720"/>
            <a:ext cx="3429000" cy="1170432"/>
          </a:xfrm>
          <a:prstGeom prst="rect">
            <a:avLst/>
          </a:prstGeom>
          <a:solidFill>
            <a:srgbClr val="0B0B12"/>
          </a:solidFill>
          <a:ln w="7620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93024" y="3602736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EAE6DA"/>
                </a:solidFill>
                <a:latin typeface="Georgia"/>
              </a:rPr>
              <a:t>006  INTERDICTION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3024" y="4041648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94A2"/>
                </a:solidFill>
                <a:latin typeface="Consolas"/>
              </a:rPr>
              <a:t>propaganda studio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4800600"/>
            <a:ext cx="3429000" cy="1170432"/>
          </a:xfrm>
          <a:prstGeom prst="rect">
            <a:avLst/>
          </a:prstGeom>
          <a:solidFill>
            <a:srgbClr val="0B0B12"/>
          </a:solidFill>
          <a:ln w="7620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4128" y="4928616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F2A44"/>
                </a:solidFill>
                <a:latin typeface="Georgia"/>
              </a:rPr>
              <a:t>007  INQUISITOR UPLINK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" y="5367528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94A2"/>
                </a:solidFill>
                <a:latin typeface="Consolas"/>
              </a:rPr>
              <a:t>encrypted comms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07408" y="4800600"/>
            <a:ext cx="3429000" cy="1170432"/>
          </a:xfrm>
          <a:prstGeom prst="rect">
            <a:avLst/>
          </a:prstGeom>
          <a:solidFill>
            <a:srgbClr val="0B0B12"/>
          </a:solidFill>
          <a:ln w="7620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08576" y="4928616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EAE6DA"/>
                </a:solidFill>
                <a:latin typeface="Georgia"/>
              </a:rPr>
              <a:t>008  IMPERIAL ARCHIVE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08576" y="5367528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94A2"/>
                </a:solidFill>
                <a:latin typeface="Consolas"/>
              </a:rPr>
              <a:t>7 lore documents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91856" y="4800600"/>
            <a:ext cx="3429000" cy="1170432"/>
          </a:xfrm>
          <a:prstGeom prst="rect">
            <a:avLst/>
          </a:prstGeom>
          <a:solidFill>
            <a:srgbClr val="0B0B12"/>
          </a:solidFill>
          <a:ln w="7620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93024" y="4928616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EAE6DA"/>
                </a:solidFill>
                <a:latin typeface="Georgia"/>
              </a:rPr>
              <a:t>009  TERMINAL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93024" y="5367528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94A2"/>
                </a:solidFill>
                <a:latin typeface="Consolas"/>
              </a:rPr>
              <a:t>working mainframe shell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" y="6126479"/>
            <a:ext cx="3429000" cy="1170432"/>
          </a:xfrm>
          <a:prstGeom prst="rect">
            <a:avLst/>
          </a:prstGeom>
          <a:solidFill>
            <a:srgbClr val="0B0B12"/>
          </a:solidFill>
          <a:ln w="7620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4128" y="6254495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F2A44"/>
                </a:solidFill>
                <a:latin typeface="Georgia"/>
              </a:rPr>
              <a:t>010  MANIFESTO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" y="6693407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94A2"/>
                </a:solidFill>
                <a:latin typeface="Consolas"/>
              </a:rPr>
              <a:t>the Emperor's case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407408" y="6126479"/>
            <a:ext cx="3429000" cy="1170432"/>
          </a:xfrm>
          <a:prstGeom prst="rect">
            <a:avLst/>
          </a:prstGeom>
          <a:solidFill>
            <a:srgbClr val="0B0B12"/>
          </a:solidFill>
          <a:ln w="7620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08576" y="6254495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EAE6DA"/>
                </a:solidFill>
                <a:latin typeface="Georgia"/>
              </a:rPr>
              <a:t>011  HUNT METRICS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8576" y="6693407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94A2"/>
                </a:solidFill>
                <a:latin typeface="Consolas"/>
              </a:rPr>
              <a:t>purge completion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991856" y="6126479"/>
            <a:ext cx="3429000" cy="1170432"/>
          </a:xfrm>
          <a:prstGeom prst="rect">
            <a:avLst/>
          </a:prstGeom>
          <a:solidFill>
            <a:srgbClr val="0B0B12"/>
          </a:solidFill>
          <a:ln w="7620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93024" y="6254495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EAE6DA"/>
                </a:solidFill>
                <a:latin typeface="Georgia"/>
              </a:rPr>
              <a:t>012  STANDARDS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93024" y="6693407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9494A2"/>
                </a:solidFill>
                <a:latin typeface="Consolas"/>
              </a:rPr>
              <a:t>in-app design system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621792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E5E6E"/>
                </a:solidFill>
                <a:latin typeface="Consolas"/>
              </a:rPr>
              <a:t>EVERY MODULE IS LIVE AND OPERABLE — NOT A MOCKUP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6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2A44"/>
                </a:solidFill>
                <a:latin typeface="Consolas"/>
              </a:rPr>
              <a:t>THE PRODUCT · JOURNEY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914400"/>
            <a:ext cx="502920" cy="0"/>
          </a:xfrm>
          <a:prstGeom prst="line">
            <a:avLst/>
          </a:prstGeom>
          <a:ln w="25400">
            <a:solidFill>
              <a:srgbClr val="E01E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0515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EAE6DA"/>
                </a:solidFill>
                <a:latin typeface="Georgia"/>
              </a:rPr>
              <a:t>Three minutes 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F2A44"/>
                </a:solidFill>
                <a:latin typeface="Georgia"/>
              </a:rPr>
              <a:t>demonstrate it all.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6446520"/>
            <a:ext cx="10543032" cy="0"/>
          </a:xfrm>
          <a:prstGeom prst="line">
            <a:avLst/>
          </a:prstGeom>
          <a:ln w="9525">
            <a:solidFill>
              <a:srgbClr val="22223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60" y="6510528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3A3A4A"/>
                </a:solidFill>
                <a:latin typeface="Consolas"/>
              </a:rPr>
              <a:t>OBSIDIAN · 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510528"/>
            <a:ext cx="1033271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i="0">
                <a:solidFill>
                  <a:srgbClr val="5E5E6E"/>
                </a:solidFill>
                <a:latin typeface="Consolas"/>
              </a:rPr>
              <a:t>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103120"/>
            <a:ext cx="6309360" cy="4114800"/>
          </a:xfrm>
          <a:prstGeom prst="rect">
            <a:avLst/>
          </a:prstGeom>
          <a:solidFill>
            <a:srgbClr val="07070D"/>
          </a:solidFill>
          <a:ln w="12700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2103120"/>
            <a:ext cx="1009497" cy="4114800"/>
          </a:xfrm>
          <a:prstGeom prst="rect">
            <a:avLst/>
          </a:prstGeom>
          <a:solidFill>
            <a:srgbClr val="0A0A12"/>
          </a:solidFill>
          <a:ln w="6350">
            <a:solidFill>
              <a:srgbClr val="2222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2103120"/>
            <a:ext cx="6309360" cy="308609"/>
          </a:xfrm>
          <a:prstGeom prst="rect">
            <a:avLst/>
          </a:prstGeom>
          <a:solidFill>
            <a:srgbClr val="0A0A12"/>
          </a:solidFill>
          <a:ln w="6350">
            <a:solidFill>
              <a:srgbClr val="2222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9147" y="2152497"/>
            <a:ext cx="1892807" cy="2057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>
                <a:solidFill>
                  <a:srgbClr val="EAE6DA"/>
                </a:solidFill>
                <a:latin typeface="Georgia"/>
              </a:rPr>
              <a:t>OBSIDIAN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1291" y="2535174"/>
            <a:ext cx="820216" cy="246888"/>
          </a:xfrm>
          <a:prstGeom prst="rect">
            <a:avLst/>
          </a:prstGeom>
          <a:solidFill>
            <a:srgbClr val="180C12"/>
          </a:solidFill>
          <a:ln w="6350">
            <a:solidFill>
              <a:srgbClr val="E01E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1291" y="2884932"/>
            <a:ext cx="820216" cy="246888"/>
          </a:xfrm>
          <a:prstGeom prst="rect">
            <a:avLst/>
          </a:prstGeom>
          <a:noFill/>
          <a:ln w="6350">
            <a:solidFill>
              <a:srgbClr val="2222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1291" y="3234689"/>
            <a:ext cx="820216" cy="246888"/>
          </a:xfrm>
          <a:prstGeom prst="rect">
            <a:avLst/>
          </a:prstGeom>
          <a:noFill/>
          <a:ln w="6350">
            <a:solidFill>
              <a:srgbClr val="2222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1291" y="3584448"/>
            <a:ext cx="820216" cy="246888"/>
          </a:xfrm>
          <a:prstGeom prst="rect">
            <a:avLst/>
          </a:prstGeom>
          <a:noFill/>
          <a:ln w="6350">
            <a:solidFill>
              <a:srgbClr val="2222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21738" y="2288286"/>
            <a:ext cx="3785615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AE6DA"/>
                </a:solidFill>
                <a:latin typeface="Georgia"/>
              </a:rPr>
              <a:t>PAGE TITLE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2514600"/>
            <a:ext cx="3749039" cy="3291840"/>
          </a:xfrm>
          <a:prstGeom prst="rect">
            <a:avLst/>
          </a:prstGeom>
          <a:solidFill>
            <a:srgbClr val="06060C"/>
          </a:solidFill>
          <a:ln w="12700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267711" y="3567988"/>
            <a:ext cx="824788" cy="824788"/>
          </a:xfrm>
          <a:prstGeom prst="ellipse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942539" y="3238804"/>
            <a:ext cx="674827" cy="674827"/>
          </a:xfrm>
          <a:prstGeom prst="ellipse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417673" y="4555540"/>
            <a:ext cx="599846" cy="599846"/>
          </a:xfrm>
          <a:prstGeom prst="ellipse">
            <a:avLst/>
          </a:prstGeom>
          <a:solidFill>
            <a:srgbClr val="F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467404" y="4423867"/>
            <a:ext cx="599846" cy="599846"/>
          </a:xfrm>
          <a:prstGeom prst="ellipse">
            <a:avLst/>
          </a:prstGeom>
          <a:solidFill>
            <a:srgbClr val="F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992270" y="3633825"/>
            <a:ext cx="524865" cy="524865"/>
          </a:xfrm>
          <a:prstGeom prst="ellipse">
            <a:avLst/>
          </a:prstGeom>
          <a:solidFill>
            <a:srgbClr val="3A3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 flipV="1">
            <a:off x="3017520" y="2777947"/>
            <a:ext cx="0" cy="1382573"/>
          </a:xfrm>
          <a:prstGeom prst="line">
            <a:avLst/>
          </a:prstGeom>
          <a:ln w="15240">
            <a:solidFill>
              <a:srgbClr val="FF2A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2456078" y="3728923"/>
            <a:ext cx="73152" cy="73152"/>
          </a:xfrm>
          <a:prstGeom prst="ellipse">
            <a:avLst/>
          </a:prstGeom>
          <a:solidFill>
            <a:srgbClr val="F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456078" y="3728923"/>
            <a:ext cx="73152" cy="73152"/>
          </a:xfrm>
          <a:prstGeom prst="ellipse">
            <a:avLst/>
          </a:prstGeom>
          <a:noFill/>
          <a:ln w="6350">
            <a:solidFill>
              <a:srgbClr val="F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055924" y="3366820"/>
            <a:ext cx="73152" cy="73152"/>
          </a:xfrm>
          <a:prstGeom prst="ellipse">
            <a:avLst/>
          </a:prstGeom>
          <a:solidFill>
            <a:srgbClr val="F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055924" y="3366820"/>
            <a:ext cx="73152" cy="73152"/>
          </a:xfrm>
          <a:prstGeom prst="ellipse">
            <a:avLst/>
          </a:prstGeom>
          <a:noFill/>
          <a:ln w="6350">
            <a:solidFill>
              <a:srgbClr val="FF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606039" y="4650638"/>
            <a:ext cx="73152" cy="73152"/>
          </a:xfrm>
          <a:prstGeom prst="ellipse">
            <a:avLst/>
          </a:prstGeom>
          <a:solidFill>
            <a:srgbClr val="F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606039" y="4650638"/>
            <a:ext cx="73152" cy="73152"/>
          </a:xfrm>
          <a:prstGeom prst="ellipse">
            <a:avLst/>
          </a:prstGeom>
          <a:noFill/>
          <a:ln w="6350">
            <a:solidFill>
              <a:srgbClr val="F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655771" y="4518964"/>
            <a:ext cx="73152" cy="73152"/>
          </a:xfrm>
          <a:prstGeom prst="ellipse">
            <a:avLst/>
          </a:prstGeom>
          <a:solidFill>
            <a:srgbClr val="F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655771" y="4518964"/>
            <a:ext cx="73152" cy="73152"/>
          </a:xfrm>
          <a:prstGeom prst="ellipse">
            <a:avLst/>
          </a:prstGeom>
          <a:noFill/>
          <a:ln w="6350">
            <a:solidFill>
              <a:srgbClr val="F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767327" y="2745028"/>
            <a:ext cx="1012240" cy="921715"/>
          </a:xfrm>
          <a:prstGeom prst="rect">
            <a:avLst/>
          </a:prstGeom>
          <a:solidFill>
            <a:srgbClr val="0A0A12"/>
          </a:solidFill>
          <a:ln w="6350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42308" y="2810865"/>
            <a:ext cx="824788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>
                <a:solidFill>
                  <a:srgbClr val="FF2A44"/>
                </a:solidFill>
                <a:latin typeface="Georgia"/>
              </a:rPr>
              <a:t>SIGHTING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42308" y="3041294"/>
            <a:ext cx="749808" cy="98755"/>
          </a:xfrm>
          <a:prstGeom prst="rect">
            <a:avLst/>
          </a:prstGeom>
          <a:noFill/>
          <a:ln w="6350">
            <a:solidFill>
              <a:srgbClr val="2222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842308" y="3222345"/>
            <a:ext cx="749808" cy="98755"/>
          </a:xfrm>
          <a:prstGeom prst="rect">
            <a:avLst/>
          </a:prstGeom>
          <a:noFill/>
          <a:ln w="6350">
            <a:solidFill>
              <a:srgbClr val="2222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2308" y="3403396"/>
            <a:ext cx="749808" cy="98755"/>
          </a:xfrm>
          <a:prstGeom prst="rect">
            <a:avLst/>
          </a:prstGeom>
          <a:noFill/>
          <a:ln w="6350">
            <a:solidFill>
              <a:srgbClr val="2222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55471" y="5477256"/>
            <a:ext cx="1874519" cy="1975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A3A4A"/>
                </a:solidFill>
                <a:latin typeface="Consolas"/>
              </a:rPr>
              <a:t>RADAR SWEEP · LIVE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52360" y="2148840"/>
            <a:ext cx="2011680" cy="841248"/>
          </a:xfrm>
          <a:prstGeom prst="rect">
            <a:avLst/>
          </a:prstGeom>
          <a:solidFill>
            <a:srgbClr val="0B0B12"/>
          </a:solidFill>
          <a:ln w="7620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89520" y="2258568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2A44"/>
                </a:solidFill>
                <a:latin typeface="Georgia"/>
              </a:rPr>
              <a:t>01  GATE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89520" y="2587752"/>
            <a:ext cx="1783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9494A2"/>
                </a:solidFill>
                <a:latin typeface="Consolas"/>
              </a:rPr>
              <a:t>click to initialize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601200" y="2148840"/>
            <a:ext cx="2011680" cy="841248"/>
          </a:xfrm>
          <a:prstGeom prst="rect">
            <a:avLst/>
          </a:prstGeom>
          <a:solidFill>
            <a:srgbClr val="0B0B12"/>
          </a:solidFill>
          <a:ln w="7620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38360" y="2258568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2A44"/>
                </a:solidFill>
                <a:latin typeface="Georgia"/>
              </a:rPr>
              <a:t>02  BOOT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38360" y="2587752"/>
            <a:ext cx="1783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9494A2"/>
                </a:solidFill>
                <a:latin typeface="Consolas"/>
              </a:rPr>
              <a:t>typed sequence, beeps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452360" y="3172968"/>
            <a:ext cx="2011680" cy="841248"/>
          </a:xfrm>
          <a:prstGeom prst="rect">
            <a:avLst/>
          </a:prstGeom>
          <a:solidFill>
            <a:srgbClr val="0B0B12"/>
          </a:solidFill>
          <a:ln w="7620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589520" y="3282696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2A44"/>
                </a:solidFill>
                <a:latin typeface="Georgia"/>
              </a:rPr>
              <a:t>03  PASSPHRASE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89520" y="3611880"/>
            <a:ext cx="1783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9494A2"/>
                </a:solidFill>
                <a:latin typeface="Consolas"/>
              </a:rPr>
              <a:t>FOR THE EMPIRE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601200" y="3172968"/>
            <a:ext cx="2011680" cy="841248"/>
          </a:xfrm>
          <a:prstGeom prst="rect">
            <a:avLst/>
          </a:prstGeom>
          <a:solidFill>
            <a:srgbClr val="0B0B12"/>
          </a:solidFill>
          <a:ln w="7620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738360" y="3282696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2A44"/>
                </a:solidFill>
                <a:latin typeface="Georgia"/>
              </a:rPr>
              <a:t>04  DECK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38360" y="3611880"/>
            <a:ext cx="1783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9494A2"/>
                </a:solidFill>
                <a:latin typeface="Consolas"/>
              </a:rPr>
              <a:t>giant hero + HUD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452360" y="4197096"/>
            <a:ext cx="2011680" cy="841248"/>
          </a:xfrm>
          <a:prstGeom prst="rect">
            <a:avLst/>
          </a:prstGeom>
          <a:solidFill>
            <a:srgbClr val="0B0B12"/>
          </a:solidFill>
          <a:ln w="7620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589520" y="4306824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2A44"/>
                </a:solidFill>
                <a:latin typeface="Georgia"/>
              </a:rPr>
              <a:t>05  TRACKER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89520" y="4636008"/>
            <a:ext cx="1783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9494A2"/>
                </a:solidFill>
                <a:latin typeface="Consolas"/>
              </a:rPr>
              <a:t>click a blip → dossier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601200" y="4197096"/>
            <a:ext cx="2011680" cy="841248"/>
          </a:xfrm>
          <a:prstGeom prst="rect">
            <a:avLst/>
          </a:prstGeom>
          <a:solidFill>
            <a:srgbClr val="0B0B12"/>
          </a:solidFill>
          <a:ln w="7620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738360" y="4306824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2A44"/>
                </a:solidFill>
                <a:latin typeface="Georgia"/>
              </a:rPr>
              <a:t>06  OPS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738360" y="4636008"/>
            <a:ext cx="1783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9494A2"/>
                </a:solidFill>
                <a:latin typeface="Consolas"/>
              </a:rPr>
              <a:t>drag card to ACTIVE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452360" y="5221224"/>
            <a:ext cx="2011680" cy="841248"/>
          </a:xfrm>
          <a:prstGeom prst="rect">
            <a:avLst/>
          </a:prstGeom>
          <a:solidFill>
            <a:srgbClr val="0B0B12"/>
          </a:solidFill>
          <a:ln w="7620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589520" y="5330952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2A44"/>
                </a:solidFill>
                <a:latin typeface="Georgia"/>
              </a:rPr>
              <a:t>07  TERMINAL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89520" y="5660136"/>
            <a:ext cx="1783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9494A2"/>
                </a:solidFill>
                <a:latin typeface="Consolas"/>
              </a:rPr>
              <a:t>cat targets.log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01200" y="5221224"/>
            <a:ext cx="2011680" cy="841248"/>
          </a:xfrm>
          <a:prstGeom prst="rect">
            <a:avLst/>
          </a:prstGeom>
          <a:solidFill>
            <a:srgbClr val="0B0B12"/>
          </a:solidFill>
          <a:ln w="7620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738360" y="5330952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2A44"/>
                </a:solidFill>
                <a:latin typeface="Georgia"/>
              </a:rPr>
              <a:t>08  STANDARDS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738360" y="5660136"/>
            <a:ext cx="1783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9494A2"/>
                </a:solidFill>
                <a:latin typeface="Consolas"/>
              </a:rPr>
              <a:t>the design system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52360" y="6263640"/>
            <a:ext cx="4297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E5E6E"/>
                </a:solidFill>
                <a:latin typeface="Consolas"/>
              </a:rPr>
              <a:t>9-STEP DEMO · ~3 MINUTES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6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2A44"/>
                </a:solidFill>
                <a:latin typeface="Consolas"/>
              </a:rPr>
              <a:t>PROOF · TRACTION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914400"/>
            <a:ext cx="502920" cy="0"/>
          </a:xfrm>
          <a:prstGeom prst="line">
            <a:avLst/>
          </a:prstGeom>
          <a:ln w="25400">
            <a:solidFill>
              <a:srgbClr val="E01E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0515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EAE6DA"/>
                </a:solidFill>
                <a:latin typeface="Georgia"/>
              </a:rPr>
              <a:t>Built,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F2A44"/>
                </a:solidFill>
                <a:latin typeface="Georgia"/>
              </a:rPr>
              <a:t>not promised.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6446520"/>
            <a:ext cx="10543032" cy="0"/>
          </a:xfrm>
          <a:prstGeom prst="line">
            <a:avLst/>
          </a:prstGeom>
          <a:ln w="9525">
            <a:solidFill>
              <a:srgbClr val="22223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60" y="6510528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3A3A4A"/>
                </a:solidFill>
                <a:latin typeface="Consolas"/>
              </a:rPr>
              <a:t>OBSIDIAN · PROOF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510528"/>
            <a:ext cx="1033271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i="0">
                <a:solidFill>
                  <a:srgbClr val="5E5E6E"/>
                </a:solidFill>
                <a:latin typeface="Consolas"/>
              </a:rPr>
              <a:t>07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286000"/>
            <a:ext cx="3429000" cy="1645920"/>
          </a:xfrm>
          <a:prstGeom prst="rect">
            <a:avLst/>
          </a:prstGeom>
          <a:solidFill>
            <a:srgbClr val="0B0B12"/>
          </a:solidFill>
          <a:ln w="9525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560320"/>
            <a:ext cx="3429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FF2A44"/>
                </a:solidFill>
                <a:latin typeface="Georgia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337560"/>
            <a:ext cx="3063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EAE6DA"/>
                </a:solidFill>
                <a:latin typeface="Georgia"/>
              </a:rPr>
              <a:t>working modules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3063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5E5E6E"/>
                </a:solidFill>
                <a:latin typeface="Consolas"/>
              </a:rPr>
              <a:t>one login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7408" y="2286000"/>
            <a:ext cx="3429000" cy="1645920"/>
          </a:xfrm>
          <a:prstGeom prst="rect">
            <a:avLst/>
          </a:prstGeom>
          <a:solidFill>
            <a:srgbClr val="0B0B12"/>
          </a:solidFill>
          <a:ln w="9525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07408" y="2560320"/>
            <a:ext cx="3429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FF2A44"/>
                </a:solidFill>
                <a:latin typeface="Georgia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3337560"/>
            <a:ext cx="3063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EAE6DA"/>
                </a:solidFill>
                <a:latin typeface="Georgia"/>
              </a:rPr>
              <a:t>original Jedi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0288" y="3639312"/>
            <a:ext cx="3063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5E5E6E"/>
                </a:solidFill>
                <a:latin typeface="Consolas"/>
              </a:rPr>
              <a:t>psychoprofiled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91856" y="2286000"/>
            <a:ext cx="3429000" cy="1645920"/>
          </a:xfrm>
          <a:prstGeom prst="rect">
            <a:avLst/>
          </a:prstGeom>
          <a:solidFill>
            <a:srgbClr val="0B0B12"/>
          </a:solidFill>
          <a:ln w="9525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91856" y="2560320"/>
            <a:ext cx="3429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FF2A44"/>
                </a:solidFill>
                <a:latin typeface="Georgia"/>
              </a:rP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4736" y="3337560"/>
            <a:ext cx="3063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EAE6DA"/>
                </a:solidFill>
                <a:latin typeface="Georgia"/>
              </a:rPr>
              <a:t>3D scenes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4736" y="3639312"/>
            <a:ext cx="3063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5E5E6E"/>
                </a:solidFill>
                <a:latin typeface="Consolas"/>
              </a:rPr>
              <a:t>custom raytracer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114800"/>
            <a:ext cx="3429000" cy="1645920"/>
          </a:xfrm>
          <a:prstGeom prst="rect">
            <a:avLst/>
          </a:prstGeom>
          <a:solidFill>
            <a:srgbClr val="0B0B12"/>
          </a:solidFill>
          <a:ln w="9525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389120"/>
            <a:ext cx="3429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FF2A44"/>
                </a:solidFill>
                <a:latin typeface="Georgia"/>
              </a:rPr>
              <a:t>62s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166360"/>
            <a:ext cx="3063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EAE6DA"/>
                </a:solidFill>
                <a:latin typeface="Georgia"/>
              </a:rPr>
              <a:t>promo film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5468112"/>
            <a:ext cx="3063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5E5E6E"/>
                </a:solidFill>
                <a:latin typeface="Consolas"/>
              </a:rPr>
              <a:t>original score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07408" y="4114800"/>
            <a:ext cx="3429000" cy="1645920"/>
          </a:xfrm>
          <a:prstGeom prst="rect">
            <a:avLst/>
          </a:prstGeom>
          <a:solidFill>
            <a:srgbClr val="0B0B12"/>
          </a:solidFill>
          <a:ln w="9525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07408" y="4389120"/>
            <a:ext cx="3429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FF2A44"/>
                </a:solidFill>
                <a:latin typeface="Georgia"/>
              </a:rPr>
              <a:t>100+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0288" y="5166360"/>
            <a:ext cx="3063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EAE6DA"/>
                </a:solidFill>
                <a:latin typeface="Georgia"/>
              </a:rPr>
              <a:t>intel reports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90288" y="5468112"/>
            <a:ext cx="3063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5E5E6E"/>
                </a:solidFill>
                <a:latin typeface="Consolas"/>
              </a:rPr>
              <a:t>generated live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91856" y="4114800"/>
            <a:ext cx="3429000" cy="1645920"/>
          </a:xfrm>
          <a:prstGeom prst="rect">
            <a:avLst/>
          </a:prstGeom>
          <a:solidFill>
            <a:srgbClr val="0B0B12"/>
          </a:solidFill>
          <a:ln w="9525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91856" y="4389120"/>
            <a:ext cx="3429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FF2A44"/>
                </a:solidFill>
                <a:latin typeface="Georgia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74736" y="5166360"/>
            <a:ext cx="3063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EAE6DA"/>
                </a:solidFill>
                <a:latin typeface="Georgia"/>
              </a:rPr>
              <a:t>external assets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74736" y="5468112"/>
            <a:ext cx="3063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5E5E6E"/>
                </a:solidFill>
                <a:latin typeface="Consolas"/>
              </a:rPr>
              <a:t>everything in-house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F4A300"/>
                </a:solidFill>
                <a:latin typeface="Consolas"/>
              </a:rPr>
              <a:t>THE TERMINAL RUNS A REAL FILESYSTEM · THE INQUISITORS REPLY IN-CHARACTER · THE BOARD DRAGS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6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2A44"/>
                </a:solidFill>
                <a:latin typeface="Consolas"/>
              </a:rPr>
              <a:t>COMPETITIVE LANDSCAPE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914400"/>
            <a:ext cx="502920" cy="0"/>
          </a:xfrm>
          <a:prstGeom prst="line">
            <a:avLst/>
          </a:prstGeom>
          <a:ln w="25400">
            <a:solidFill>
              <a:srgbClr val="E01E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0515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EAE6DA"/>
                </a:solidFill>
                <a:latin typeface="Georgia"/>
              </a:rPr>
              <a:t>The old 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F2A44"/>
                </a:solidFill>
                <a:latin typeface="Georgia"/>
              </a:rPr>
              <a:t>vs. the network.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6446520"/>
            <a:ext cx="10543032" cy="0"/>
          </a:xfrm>
          <a:prstGeom prst="line">
            <a:avLst/>
          </a:prstGeom>
          <a:ln w="9525">
            <a:solidFill>
              <a:srgbClr val="22223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60" y="6510528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3A3A4A"/>
                </a:solidFill>
                <a:latin typeface="Consolas"/>
              </a:rPr>
              <a:t>OBSIDIAN · COMPETITION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510528"/>
            <a:ext cx="1033271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i="0">
                <a:solidFill>
                  <a:srgbClr val="5E5E6E"/>
                </a:solidFill>
                <a:latin typeface="Consolas"/>
              </a:rPr>
              <a:t>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103120"/>
            <a:ext cx="5212080" cy="3931920"/>
          </a:xfrm>
          <a:prstGeom prst="rect">
            <a:avLst/>
          </a:prstGeom>
          <a:solidFill>
            <a:srgbClr val="0B0B12"/>
          </a:solidFill>
          <a:ln w="9525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3172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9494A2"/>
                </a:solidFill>
                <a:latin typeface="Georgia"/>
              </a:rPr>
              <a:t>THE OLD EMPIRE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88036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5E5E6E"/>
                </a:solidFill>
                <a:latin typeface="Consolas"/>
              </a:rPr>
              <a:t>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898648"/>
            <a:ext cx="4297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494A2"/>
                </a:solidFill>
                <a:latin typeface="Consolas"/>
              </a:rPr>
              <a:t>reports vanish into ledgers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630168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5E5E6E"/>
                </a:solidFill>
                <a:latin typeface="Consolas"/>
              </a:rPr>
              <a:t>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648456"/>
            <a:ext cx="4297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494A2"/>
                </a:solidFill>
                <a:latin typeface="Consolas"/>
              </a:rPr>
              <a:t>six hunters, six separate hunts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379976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5E5E6E"/>
                </a:solidFill>
                <a:latin typeface="Consolas"/>
              </a:rPr>
              <a:t>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398264"/>
            <a:ext cx="4297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494A2"/>
                </a:solidFill>
                <a:latin typeface="Consolas"/>
              </a:rPr>
              <a:t>recruitment lanes wide open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5129783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5E5E6E"/>
                </a:solidFill>
                <a:latin typeface="Consolas"/>
              </a:rPr>
              <a:t>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148071"/>
            <a:ext cx="4297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494A2"/>
                </a:solidFill>
                <a:latin typeface="Consolas"/>
              </a:rPr>
              <a:t>sightings never become strikes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2103120"/>
            <a:ext cx="4965192" cy="3931920"/>
          </a:xfrm>
          <a:prstGeom prst="rect">
            <a:avLst/>
          </a:prstGeom>
          <a:solidFill>
            <a:srgbClr val="10080C"/>
          </a:solidFill>
          <a:ln w="15240">
            <a:solidFill>
              <a:srgbClr val="E01E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233172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2A44"/>
                </a:solidFill>
                <a:latin typeface="Georgia"/>
              </a:rPr>
              <a:t>OBSIDIAN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288036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DDC84"/>
                </a:solidFill>
                <a:latin typeface="Consolas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2898648"/>
            <a:ext cx="4023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EAE6DA"/>
                </a:solidFill>
                <a:latin typeface="Consolas"/>
              </a:rPr>
              <a:t>one live galactic grid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3630168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DDC84"/>
                </a:solidFill>
                <a:latin typeface="Consolas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3648456"/>
            <a:ext cx="4023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EAE6DA"/>
                </a:solidFill>
                <a:latin typeface="Consolas"/>
              </a:rPr>
              <a:t>one encrypted channel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4379976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DDC84"/>
                </a:solidFill>
                <a:latin typeface="Consolas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4398264"/>
            <a:ext cx="4023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EAE6DA"/>
                </a:solidFill>
                <a:latin typeface="Consolas"/>
              </a:rPr>
              <a:t>counter-recruitment broadcasts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5129783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DDC84"/>
                </a:solidFill>
                <a:latin typeface="Consolas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0" y="5148071"/>
            <a:ext cx="4023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EAE6DA"/>
                </a:solidFill>
                <a:latin typeface="Consolas"/>
              </a:rPr>
              <a:t>intel escalates into hunts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26364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5E5E6E"/>
                </a:solidFill>
                <a:latin typeface="Consolas"/>
              </a:rPr>
              <a:t>THE EMPIRE DOES NOT COMPETE WITH BETTER LEGIONS — IT COMPETES WITH BETTER COORDINATION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6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2A44"/>
                </a:solidFill>
                <a:latin typeface="Consolas"/>
              </a:rPr>
              <a:t>CRAFT · VISUAL IDENTITY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914400"/>
            <a:ext cx="502920" cy="0"/>
          </a:xfrm>
          <a:prstGeom prst="line">
            <a:avLst/>
          </a:prstGeom>
          <a:ln w="25400">
            <a:solidFill>
              <a:srgbClr val="E01E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0515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EAE6DA"/>
                </a:solidFill>
                <a:latin typeface="Georgia"/>
              </a:rPr>
              <a:t>3D — a raytracer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F2A44"/>
                </a:solidFill>
                <a:latin typeface="Georgia"/>
              </a:rPr>
              <a:t>we wrote ourselves.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6446520"/>
            <a:ext cx="10543032" cy="0"/>
          </a:xfrm>
          <a:prstGeom prst="line">
            <a:avLst/>
          </a:prstGeom>
          <a:ln w="9525">
            <a:solidFill>
              <a:srgbClr val="22223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60" y="6510528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3A3A4A"/>
                </a:solidFill>
                <a:latin typeface="Consolas"/>
              </a:rPr>
              <a:t>OBSIDIAN · CRAFT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510528"/>
            <a:ext cx="1033271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i="0">
                <a:solidFill>
                  <a:srgbClr val="5E5E6E"/>
                </a:solidFill>
                <a:latin typeface="Consolas"/>
              </a:rPr>
              <a:t>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9494A2"/>
                </a:solidFill>
                <a:latin typeface="Consolas"/>
              </a:rPr>
              <a:t>Eight scenes, one vectorized numpy raytracer built from scratch — no external 3D software, no stock renders.</a:t>
            </a:r>
          </a:p>
        </p:txBody>
      </p:sp>
      <p:pic>
        <p:nvPicPr>
          <p:cNvPr id="11" name="Picture 10" descr="sig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686050"/>
            <a:ext cx="2560320" cy="1440179"/>
          </a:xfrm>
          <a:prstGeom prst="rect">
            <a:avLst/>
          </a:prstGeom>
        </p:spPr>
      </p:pic>
      <p:pic>
        <p:nvPicPr>
          <p:cNvPr id="12" name="Picture 11" descr="warsh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0440" y="2686050"/>
            <a:ext cx="2560320" cy="1440179"/>
          </a:xfrm>
          <a:prstGeom prst="rect">
            <a:avLst/>
          </a:prstGeom>
        </p:spPr>
      </p:pic>
      <p:pic>
        <p:nvPicPr>
          <p:cNvPr id="13" name="Picture 12" descr="helm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2686050"/>
            <a:ext cx="2560320" cy="1440179"/>
          </a:xfrm>
          <a:prstGeom prst="rect">
            <a:avLst/>
          </a:prstGeom>
        </p:spPr>
      </p:pic>
      <p:pic>
        <p:nvPicPr>
          <p:cNvPr id="14" name="Picture 13" descr="plan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5400" y="2686050"/>
            <a:ext cx="2560320" cy="1440179"/>
          </a:xfrm>
          <a:prstGeom prst="rect">
            <a:avLst/>
          </a:prstGeom>
        </p:spPr>
      </p:pic>
      <p:pic>
        <p:nvPicPr>
          <p:cNvPr id="15" name="Picture 14" descr="prob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4606290"/>
            <a:ext cx="2560320" cy="1440179"/>
          </a:xfrm>
          <a:prstGeom prst="rect">
            <a:avLst/>
          </a:prstGeom>
        </p:spPr>
      </p:pic>
      <p:pic>
        <p:nvPicPr>
          <p:cNvPr id="16" name="Picture 15" descr="thron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20440" y="4606290"/>
            <a:ext cx="2560320" cy="1440179"/>
          </a:xfrm>
          <a:prstGeom prst="rect">
            <a:avLst/>
          </a:prstGeom>
        </p:spPr>
      </p:pic>
      <p:pic>
        <p:nvPicPr>
          <p:cNvPr id="17" name="Picture 16" descr="blad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0" y="4606290"/>
            <a:ext cx="2560320" cy="1440179"/>
          </a:xfrm>
          <a:prstGeom prst="rect">
            <a:avLst/>
          </a:prstGeom>
        </p:spPr>
      </p:pic>
      <p:pic>
        <p:nvPicPr>
          <p:cNvPr id="18" name="Picture 17" descr="citade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15400" y="4606290"/>
            <a:ext cx="2560320" cy="144017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22960" y="626364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5E5E6E"/>
                </a:solidFill>
                <a:latin typeface="Consolas"/>
              </a:rPr>
              <a:t>SIGIL · WARSHIP · HELMET · PLANET · PROBE · THRONE · BLADE · CITADEL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6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2A44"/>
                </a:solidFill>
                <a:latin typeface="Consolas"/>
              </a:rPr>
              <a:t>CRAFT · IRON PROTOCOL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914400"/>
            <a:ext cx="502920" cy="0"/>
          </a:xfrm>
          <a:prstGeom prst="line">
            <a:avLst/>
          </a:prstGeom>
          <a:ln w="25400">
            <a:solidFill>
              <a:srgbClr val="E01E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0515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EAE6DA"/>
                </a:solidFill>
                <a:latin typeface="Georgia"/>
              </a:rPr>
              <a:t>One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F2A44"/>
                </a:solidFill>
                <a:latin typeface="Georgia"/>
              </a:rPr>
              <a:t>system.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6446520"/>
            <a:ext cx="10543032" cy="0"/>
          </a:xfrm>
          <a:prstGeom prst="line">
            <a:avLst/>
          </a:prstGeom>
          <a:ln w="9525">
            <a:solidFill>
              <a:srgbClr val="22223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60" y="6510528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3A3A4A"/>
                </a:solidFill>
                <a:latin typeface="Consolas"/>
              </a:rPr>
              <a:t>OBSIDIAN · CRAFT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510528"/>
            <a:ext cx="1033271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i="0">
                <a:solidFill>
                  <a:srgbClr val="5E5E6E"/>
                </a:solidFill>
                <a:latin typeface="Consolas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148840"/>
            <a:ext cx="1993392" cy="868680"/>
          </a:xfrm>
          <a:prstGeom prst="rect">
            <a:avLst/>
          </a:prstGeom>
          <a:solidFill>
            <a:srgbClr val="050507"/>
          </a:solidFill>
          <a:ln w="6350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715768"/>
            <a:ext cx="1828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EAE6DA"/>
                </a:solidFill>
                <a:latin typeface="Consolas"/>
              </a:rPr>
              <a:t>#050507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862072"/>
            <a:ext cx="1828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EAE6DA"/>
                </a:solidFill>
                <a:latin typeface="Consolas"/>
              </a:rPr>
              <a:t>BASE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2656" y="2148840"/>
            <a:ext cx="1993392" cy="868680"/>
          </a:xfrm>
          <a:prstGeom prst="rect">
            <a:avLst/>
          </a:prstGeom>
          <a:solidFill>
            <a:srgbClr val="0B0B12"/>
          </a:solidFill>
          <a:ln w="6350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35808" y="2715768"/>
            <a:ext cx="1828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EAE6DA"/>
                </a:solidFill>
                <a:latin typeface="Consolas"/>
              </a:rPr>
              <a:t>#0b0b12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35808" y="2862072"/>
            <a:ext cx="1828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EAE6DA"/>
                </a:solidFill>
                <a:latin typeface="Consolas"/>
              </a:rPr>
              <a:t>PANEL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02352" y="2148840"/>
            <a:ext cx="1993392" cy="868680"/>
          </a:xfrm>
          <a:prstGeom prst="rect">
            <a:avLst/>
          </a:prstGeom>
          <a:solidFill>
            <a:srgbClr val="1E1E2E"/>
          </a:solidFill>
          <a:ln w="6350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75504" y="2715768"/>
            <a:ext cx="1828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EAE6DA"/>
                </a:solidFill>
                <a:latin typeface="Consolas"/>
              </a:rPr>
              <a:t>#1e1e2e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75504" y="2862072"/>
            <a:ext cx="1828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EAE6DA"/>
                </a:solidFill>
                <a:latin typeface="Consolas"/>
              </a:rPr>
              <a:t>HAIRLINE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42048" y="2148840"/>
            <a:ext cx="1993392" cy="868680"/>
          </a:xfrm>
          <a:prstGeom prst="rect">
            <a:avLst/>
          </a:prstGeom>
          <a:solidFill>
            <a:srgbClr val="E8E4D8"/>
          </a:solidFill>
          <a:ln w="6350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0" y="2715768"/>
            <a:ext cx="1828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0B0B12"/>
                </a:solidFill>
                <a:latin typeface="Consolas"/>
              </a:rPr>
              <a:t>#e8e4d8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2862072"/>
            <a:ext cx="1828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EAE6DA"/>
                </a:solidFill>
                <a:latin typeface="Consolas"/>
              </a:rPr>
              <a:t>BONE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81744" y="2148840"/>
            <a:ext cx="1993392" cy="868680"/>
          </a:xfrm>
          <a:prstGeom prst="rect">
            <a:avLst/>
          </a:prstGeom>
          <a:solidFill>
            <a:srgbClr val="8A8A94"/>
          </a:solidFill>
          <a:ln w="6350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54896" y="2715768"/>
            <a:ext cx="1828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0B0B12"/>
                </a:solidFill>
                <a:latin typeface="Consolas"/>
              </a:rPr>
              <a:t>#8a8a94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54896" y="2862072"/>
            <a:ext cx="1828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EAE6DA"/>
                </a:solidFill>
                <a:latin typeface="Consolas"/>
              </a:rPr>
              <a:t>STEEL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200400"/>
            <a:ext cx="1993392" cy="868680"/>
          </a:xfrm>
          <a:prstGeom prst="rect">
            <a:avLst/>
          </a:prstGeom>
          <a:solidFill>
            <a:srgbClr val="E01E37"/>
          </a:solidFill>
          <a:ln w="6350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3767328"/>
            <a:ext cx="1828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EAE6DA"/>
                </a:solidFill>
                <a:latin typeface="Consolas"/>
              </a:rPr>
              <a:t>#e01e37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112" y="3913632"/>
            <a:ext cx="1828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EAE6DA"/>
                </a:solidFill>
                <a:latin typeface="Consolas"/>
              </a:rPr>
              <a:t>ACTION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62656" y="3200400"/>
            <a:ext cx="1993392" cy="868680"/>
          </a:xfrm>
          <a:prstGeom prst="rect">
            <a:avLst/>
          </a:prstGeom>
          <a:solidFill>
            <a:srgbClr val="FF2A44"/>
          </a:solidFill>
          <a:ln w="6350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035808" y="3767328"/>
            <a:ext cx="1828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EAE6DA"/>
                </a:solidFill>
                <a:latin typeface="Consolas"/>
              </a:rPr>
              <a:t>#ff2a44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35808" y="3913632"/>
            <a:ext cx="1828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EAE6DA"/>
                </a:solidFill>
                <a:latin typeface="Consolas"/>
              </a:rPr>
              <a:t>ALERT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02352" y="3200400"/>
            <a:ext cx="1993392" cy="868680"/>
          </a:xfrm>
          <a:prstGeom prst="rect">
            <a:avLst/>
          </a:prstGeom>
          <a:solidFill>
            <a:srgbClr val="F4A300"/>
          </a:solidFill>
          <a:ln w="6350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75504" y="3767328"/>
            <a:ext cx="1828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EAE6DA"/>
                </a:solidFill>
                <a:latin typeface="Consolas"/>
              </a:rPr>
              <a:t>#f4a300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75504" y="3913632"/>
            <a:ext cx="1828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EAE6DA"/>
                </a:solidFill>
                <a:latin typeface="Consolas"/>
              </a:rPr>
              <a:t>WARN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42048" y="3200400"/>
            <a:ext cx="1993392" cy="868680"/>
          </a:xfrm>
          <a:prstGeom prst="rect">
            <a:avLst/>
          </a:prstGeom>
          <a:solidFill>
            <a:srgbClr val="3DDC84"/>
          </a:solidFill>
          <a:ln w="6350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0" y="3767328"/>
            <a:ext cx="1828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EAE6DA"/>
                </a:solidFill>
                <a:latin typeface="Consolas"/>
              </a:rPr>
              <a:t>#3ddc84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0" y="3913632"/>
            <a:ext cx="1828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EAE6DA"/>
                </a:solidFill>
                <a:latin typeface="Consolas"/>
              </a:rPr>
              <a:t>POS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381744" y="3200400"/>
            <a:ext cx="1993392" cy="868680"/>
          </a:xfrm>
          <a:prstGeom prst="rect">
            <a:avLst/>
          </a:prstGeom>
          <a:solidFill>
            <a:srgbClr val="9FB4D8"/>
          </a:solidFill>
          <a:ln w="6350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54896" y="3767328"/>
            <a:ext cx="1828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0B0B12"/>
                </a:solidFill>
                <a:latin typeface="Consolas"/>
              </a:rPr>
              <a:t>#9fb4d8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54896" y="3913632"/>
            <a:ext cx="1828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EAE6DA"/>
                </a:solidFill>
                <a:latin typeface="Consolas"/>
              </a:rPr>
              <a:t>DATA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" y="443484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E5E6E"/>
                </a:solidFill>
                <a:latin typeface="Consolas"/>
              </a:rPr>
              <a:t>TYPOGRAPHY — CINZEL COMMANDS · RAJDHANI OPERATES · PLEXMONO REPORTS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4800600"/>
            <a:ext cx="10515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AE6DA"/>
                </a:solidFill>
                <a:latin typeface="Georgia"/>
              </a:rPr>
              <a:t>ORDER IS PEACE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" y="553212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94A2"/>
                </a:solidFill>
                <a:latin typeface="Consolas"/>
              </a:rPr>
              <a:t>SIGHTING LOG // SECTOR 9 // 02:41:07 · AUTHENTICATE · DISPATCH · HUNT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598932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E5E6E"/>
                </a:solidFill>
                <a:latin typeface="Consolas"/>
              </a:rPr>
              <a:t>MOTION: scramble titles · magnetic buttons · count-ups · radar sweep · WebAudio UI sounds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6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2A44"/>
                </a:solidFill>
                <a:latin typeface="Consolas"/>
              </a:rPr>
              <a:t>THE TEAM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914400"/>
            <a:ext cx="502920" cy="0"/>
          </a:xfrm>
          <a:prstGeom prst="line">
            <a:avLst/>
          </a:prstGeom>
          <a:ln w="25400">
            <a:solidFill>
              <a:srgbClr val="E01E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0515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EAE6DA"/>
                </a:solidFill>
                <a:latin typeface="Georgia"/>
              </a:rPr>
              <a:t>Three operatives.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F2A44"/>
                </a:solidFill>
                <a:latin typeface="Georgia"/>
              </a:rPr>
              <a:t>One doctrine.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6446520"/>
            <a:ext cx="10543032" cy="0"/>
          </a:xfrm>
          <a:prstGeom prst="line">
            <a:avLst/>
          </a:prstGeom>
          <a:ln w="9525">
            <a:solidFill>
              <a:srgbClr val="22223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60" y="6510528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3A3A4A"/>
                </a:solidFill>
                <a:latin typeface="Consolas"/>
              </a:rPr>
              <a:t>OBSIDIAN ·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510528"/>
            <a:ext cx="1033271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i="0">
                <a:solidFill>
                  <a:srgbClr val="5E5E6E"/>
                </a:solidFill>
                <a:latin typeface="Consolas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240280"/>
            <a:ext cx="3429000" cy="3566160"/>
          </a:xfrm>
          <a:prstGeom prst="rect">
            <a:avLst/>
          </a:prstGeom>
          <a:solidFill>
            <a:srgbClr val="0B0B12"/>
          </a:solidFill>
          <a:ln w="9525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2240280"/>
            <a:ext cx="3429000" cy="54864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80260" y="2697480"/>
            <a:ext cx="914400" cy="914400"/>
          </a:xfrm>
          <a:prstGeom prst="ellipse">
            <a:avLst/>
          </a:prstGeom>
          <a:noFill/>
          <a:ln w="15240">
            <a:solidFill>
              <a:srgbClr val="E01E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0260" y="2999232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2A44"/>
                </a:solidFill>
                <a:latin typeface="Georgia"/>
              </a:rPr>
              <a:t>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84048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EAE6DA"/>
                </a:solidFill>
                <a:latin typeface="Georgia"/>
              </a:rPr>
              <a:t>ANUJ PHULERA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251960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FF2A44"/>
                </a:solidFill>
                <a:latin typeface="Consolas"/>
              </a:rPr>
              <a:t>DEVELOPER · AI · BACKEND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4709160"/>
            <a:ext cx="2697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45000"/>
              </a:lnSpc>
            </a:pPr>
            <a:r>
              <a:rPr sz="900" b="0" i="0">
                <a:solidFill>
                  <a:srgbClr val="9494A2"/>
                </a:solidFill>
                <a:latin typeface="Consolas"/>
              </a:rPr>
              <a:t>Builds the engine — zero-latency systems, the AI that makes the hunt computable.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07408" y="2240280"/>
            <a:ext cx="3429000" cy="3566160"/>
          </a:xfrm>
          <a:prstGeom prst="rect">
            <a:avLst/>
          </a:prstGeom>
          <a:solidFill>
            <a:srgbClr val="0B0B12"/>
          </a:solidFill>
          <a:ln w="9525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07408" y="2240280"/>
            <a:ext cx="3429000" cy="54864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4708" y="2697480"/>
            <a:ext cx="914400" cy="914400"/>
          </a:xfrm>
          <a:prstGeom prst="ellipse">
            <a:avLst/>
          </a:prstGeom>
          <a:noFill/>
          <a:ln w="15240">
            <a:solidFill>
              <a:srgbClr val="E01E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4708" y="2999232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2A44"/>
                </a:solidFill>
                <a:latin typeface="Georgia"/>
              </a:rPr>
              <a:t>AC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6008" y="384048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EAE6DA"/>
                </a:solidFill>
                <a:latin typeface="Georgia"/>
              </a:rPr>
              <a:t>AARAV CHOUDHARY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36008" y="4251960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FF2A44"/>
                </a:solidFill>
                <a:latin typeface="Consolas"/>
              </a:rPr>
              <a:t>VISION · MARKETING · IDEAS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73168" y="4709160"/>
            <a:ext cx="2697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45000"/>
              </a:lnSpc>
            </a:pPr>
            <a:r>
              <a:rPr sz="900" b="0" i="0">
                <a:solidFill>
                  <a:srgbClr val="9494A2"/>
                </a:solidFill>
                <a:latin typeface="Consolas"/>
              </a:rPr>
              <a:t>Saw the decay of the old order and imagined something absolute.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91856" y="2240280"/>
            <a:ext cx="3429000" cy="3566160"/>
          </a:xfrm>
          <a:prstGeom prst="rect">
            <a:avLst/>
          </a:prstGeom>
          <a:solidFill>
            <a:srgbClr val="0B0B12"/>
          </a:solidFill>
          <a:ln w="9525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91856" y="2240280"/>
            <a:ext cx="3429000" cy="54864"/>
          </a:xfrm>
          <a:prstGeom prst="rect">
            <a:avLst/>
          </a:prstGeom>
          <a:solidFill>
            <a:srgbClr val="E01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9156" y="2697480"/>
            <a:ext cx="914400" cy="914400"/>
          </a:xfrm>
          <a:prstGeom prst="ellipse">
            <a:avLst/>
          </a:prstGeom>
          <a:noFill/>
          <a:ln w="15240">
            <a:solidFill>
              <a:srgbClr val="E01E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9156" y="2999232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2A44"/>
                </a:solidFill>
                <a:latin typeface="Georgia"/>
              </a:rPr>
              <a:t>JK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0456" y="384048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EAE6DA"/>
                </a:solidFill>
                <a:latin typeface="Georgia"/>
              </a:rPr>
              <a:t>JEEHAAN KWATRA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0456" y="4251960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FF2A44"/>
                </a:solidFill>
                <a:latin typeface="Consolas"/>
              </a:rPr>
              <a:t>DESIGN · MEDIA · PITCH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57616" y="4709160"/>
            <a:ext cx="2697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45000"/>
              </a:lnSpc>
            </a:pPr>
            <a:r>
              <a:rPr sz="900" b="0" i="0">
                <a:solidFill>
                  <a:srgbClr val="9494A2"/>
                </a:solidFill>
                <a:latin typeface="Consolas"/>
              </a:rPr>
              <a:t>Forges the aesthetic — every pixel, frame and blade of the sigil.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5E5E6E"/>
                </a:solidFill>
                <a:latin typeface="Consolas"/>
              </a:rPr>
              <a:t>IDEATION · ENGINEERING · DESIGN · FILM · PITCH — ALL IN-HOUSE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6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2A44"/>
                </a:solidFill>
                <a:latin typeface="Consolas"/>
              </a:rPr>
              <a:t>THE ROAD AHEAD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914400"/>
            <a:ext cx="502920" cy="0"/>
          </a:xfrm>
          <a:prstGeom prst="line">
            <a:avLst/>
          </a:prstGeom>
          <a:ln w="25400">
            <a:solidFill>
              <a:srgbClr val="E01E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10515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EAE6DA"/>
                </a:solidFill>
                <a:latin typeface="Georgia"/>
              </a:rPr>
              <a:t>The net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F2A44"/>
                </a:solidFill>
                <a:latin typeface="Georgia"/>
              </a:rPr>
              <a:t>expands.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6446520"/>
            <a:ext cx="10543032" cy="0"/>
          </a:xfrm>
          <a:prstGeom prst="line">
            <a:avLst/>
          </a:prstGeom>
          <a:ln w="9525">
            <a:solidFill>
              <a:srgbClr val="22223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60" y="6510528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3A3A4A"/>
                </a:solidFill>
                <a:latin typeface="Consolas"/>
              </a:rPr>
              <a:t>OBSIDIAN · ROADMAP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510528"/>
            <a:ext cx="1033271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i="0">
                <a:solidFill>
                  <a:srgbClr val="5E5E6E"/>
                </a:solidFill>
                <a:latin typeface="Consolas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194560"/>
            <a:ext cx="10515600" cy="822960"/>
          </a:xfrm>
          <a:prstGeom prst="rect">
            <a:avLst/>
          </a:prstGeom>
          <a:solidFill>
            <a:srgbClr val="0B0B12"/>
          </a:solidFill>
          <a:ln w="7620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05840" y="2423160"/>
            <a:ext cx="365760" cy="365760"/>
          </a:xfrm>
          <a:prstGeom prst="ellipse">
            <a:avLst/>
          </a:prstGeom>
          <a:noFill/>
          <a:ln w="15240">
            <a:solidFill>
              <a:srgbClr val="E01E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450591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2A44"/>
                </a:solidFill>
                <a:latin typeface="Georgi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2340864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AE6DA"/>
                </a:solidFill>
                <a:latin typeface="Georgia"/>
              </a:rPr>
              <a:t>PROBE MESH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2697480"/>
            <a:ext cx="9418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494A2"/>
                </a:solidFill>
                <a:latin typeface="Consolas"/>
              </a:rPr>
              <a:t>fleet-wide probe telemetry with live alerts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3182112"/>
            <a:ext cx="10515600" cy="822960"/>
          </a:xfrm>
          <a:prstGeom prst="rect">
            <a:avLst/>
          </a:prstGeom>
          <a:solidFill>
            <a:srgbClr val="0B0B12"/>
          </a:solidFill>
          <a:ln w="7620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5840" y="3410712"/>
            <a:ext cx="365760" cy="365760"/>
          </a:xfrm>
          <a:prstGeom prst="ellipse">
            <a:avLst/>
          </a:prstGeom>
          <a:noFill/>
          <a:ln w="15240">
            <a:solidFill>
              <a:srgbClr val="E01E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3438144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2A44"/>
                </a:solidFill>
                <a:latin typeface="Georg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3328416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AE6DA"/>
                </a:solidFill>
                <a:latin typeface="Georgia"/>
              </a:rPr>
              <a:t>VOICE COMMAND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685032"/>
            <a:ext cx="9418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494A2"/>
                </a:solidFill>
                <a:latin typeface="Consolas"/>
              </a:rPr>
              <a:t>talk to the mainframe — the terminal listens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169664"/>
            <a:ext cx="10515600" cy="822960"/>
          </a:xfrm>
          <a:prstGeom prst="rect">
            <a:avLst/>
          </a:prstGeom>
          <a:solidFill>
            <a:srgbClr val="0B0B12"/>
          </a:solidFill>
          <a:ln w="7620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4398264"/>
            <a:ext cx="365760" cy="365760"/>
          </a:xfrm>
          <a:prstGeom prst="ellipse">
            <a:avLst/>
          </a:prstGeom>
          <a:noFill/>
          <a:ln w="15240">
            <a:solidFill>
              <a:srgbClr val="E01E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425696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2A44"/>
                </a:solidFill>
                <a:latin typeface="Georgi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431596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AE6DA"/>
                </a:solidFill>
                <a:latin typeface="Georgia"/>
              </a:rPr>
              <a:t>SECTOR SIMULATION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672584"/>
            <a:ext cx="9418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494A2"/>
                </a:solidFill>
                <a:latin typeface="Consolas"/>
              </a:rPr>
              <a:t>AI-generated Jedi behavior for training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5157216"/>
            <a:ext cx="10515600" cy="822960"/>
          </a:xfrm>
          <a:prstGeom prst="rect">
            <a:avLst/>
          </a:prstGeom>
          <a:solidFill>
            <a:srgbClr val="0B0B12"/>
          </a:solidFill>
          <a:ln w="7620">
            <a:solidFill>
              <a:srgbClr val="333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5840" y="5385816"/>
            <a:ext cx="365760" cy="365760"/>
          </a:xfrm>
          <a:prstGeom prst="ellipse">
            <a:avLst/>
          </a:prstGeom>
          <a:noFill/>
          <a:ln w="15240">
            <a:solidFill>
              <a:srgbClr val="E01E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5413248"/>
            <a:ext cx="365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2A44"/>
                </a:solidFill>
                <a:latin typeface="Georgia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530352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AE6DA"/>
                </a:solidFill>
                <a:latin typeface="Georgia"/>
              </a:rPr>
              <a:t>CITIZEN NETWORK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5660136"/>
            <a:ext cx="9418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494A2"/>
                </a:solidFill>
                <a:latin typeface="Consolas"/>
              </a:rPr>
              <a:t>anonymous tip portal feeding the grid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6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hr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3" cy="7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6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16-Point Star 4"/>
          <p:cNvSpPr/>
          <p:nvPr/>
        </p:nvSpPr>
        <p:spPr>
          <a:xfrm>
            <a:off x="5639104" y="1645919"/>
            <a:ext cx="914400" cy="914400"/>
          </a:xfrm>
          <a:prstGeom prst="star16">
            <a:avLst/>
          </a:prstGeom>
          <a:solidFill>
            <a:srgbClr val="E01E37"/>
          </a:solidFill>
          <a:ln w="12700">
            <a:solidFill>
              <a:srgbClr val="E01E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77432" y="1984248"/>
            <a:ext cx="237744" cy="237744"/>
          </a:xfrm>
          <a:prstGeom prst="ellipse">
            <a:avLst/>
          </a:prstGeom>
          <a:noFill/>
          <a:ln w="15240">
            <a:solidFill>
              <a:srgbClr val="EAE6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059728" y="2066543"/>
            <a:ext cx="73152" cy="73152"/>
          </a:xfrm>
          <a:prstGeom prst="ellipse">
            <a:avLst/>
          </a:prstGeom>
          <a:solidFill>
            <a:srgbClr val="F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1036015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" b="1" i="0">
                <a:solidFill>
                  <a:srgbClr val="EAE6DA"/>
                </a:solidFill>
                <a:latin typeface="Georgia"/>
              </a:rPr>
              <a:t>THE HUNT NEVER ENDS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94760"/>
            <a:ext cx="1036015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FF2A44"/>
                </a:solidFill>
                <a:latin typeface="Consolas"/>
              </a:rPr>
              <a:t>UNTIL THE LAST EMBER IS COLD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389120" y="4434840"/>
            <a:ext cx="3410711" cy="0"/>
          </a:xfrm>
          <a:prstGeom prst="line">
            <a:avLst/>
          </a:prstGeom>
          <a:ln w="12700">
            <a:solidFill>
              <a:srgbClr val="5A101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14400" y="4663440"/>
            <a:ext cx="1036015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050" b="0" i="0">
                <a:solidFill>
                  <a:srgbClr val="5E5E6E"/>
                </a:solidFill>
                <a:latin typeface="Consolas"/>
              </a:rPr>
              <a:t>OBSIDIAN · IMPERIAL SECURITY NETWORK</a:t>
            </a:r>
          </a:p>
          <a:p>
            <a:pPr algn="ctr">
              <a:lnSpc>
                <a:spcPct val="150000"/>
              </a:lnSpc>
            </a:pPr>
            <a:r>
              <a:rPr sz="1050" b="0" i="0">
                <a:solidFill>
                  <a:srgbClr val="5E5E6E"/>
                </a:solidFill>
                <a:latin typeface="Consolas"/>
              </a:rPr>
              <a:t>ANUJ PHULERA · AARAV CHOUDHARY · JEEHAAN KWATRA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806440"/>
            <a:ext cx="103601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F4A300"/>
                </a:solidFill>
                <a:latin typeface="Consolas"/>
              </a:rPr>
              <a:t>PASSPHRASE: FOR THE EMPIRE — TRY THE DEMO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217920"/>
            <a:ext cx="1036015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3A3A4A"/>
                </a:solidFill>
                <a:latin typeface="Consolas"/>
              </a:rPr>
              <a:t>TS '26 CREATIVE PRELIMS · SUBMISSION READY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